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961120" y="0"/>
            <a:ext cx="3227832" cy="1874519"/>
          </a:xfrm>
          <a:prstGeom prst="rect">
            <a:avLst/>
          </a:prstGeom>
          <a:solidFill>
            <a:srgbClr val="1F918E"/>
          </a:solidFill>
          <a:ln>
            <a:solidFill>
              <a:srgbClr val="1F9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698480" y="4709160"/>
            <a:ext cx="1490472" cy="2148840"/>
          </a:xfrm>
          <a:prstGeom prst="rect">
            <a:avLst/>
          </a:prstGeom>
          <a:solidFill>
            <a:srgbClr val="F1A458"/>
          </a:solidFill>
          <a:ln>
            <a:solidFill>
              <a:srgbClr val="F1A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532120"/>
            <a:ext cx="10789920" cy="1325880"/>
          </a:xfrm>
          <a:prstGeom prst="rect">
            <a:avLst/>
          </a:prstGeom>
          <a:solidFill>
            <a:srgbClr val="2B5E8F"/>
          </a:solidFill>
          <a:ln>
            <a:solidFill>
              <a:srgbClr val="2B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9875520" cy="685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RETAILIQ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81328"/>
            <a:ext cx="1024128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800" b="0" i="0">
                <a:solidFill>
                  <a:srgbClr val="D5DFEB"/>
                </a:solidFill>
                <a:latin typeface="Arial"/>
              </a:rPr>
              <a:t>An Adaptive Data Analytics Framework for Automated Dataset Profiling,
Exploratory Analysis and Insight 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2304288"/>
            <a:ext cx="6858000" cy="3477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 dirty="0">
                <a:solidFill>
                  <a:srgbClr val="FFFFFF"/>
                </a:solidFill>
                <a:latin typeface="Arial"/>
              </a:rPr>
              <a:t>PROJECT REVIEW – III   •   BATCH 13   •   </a:t>
            </a:r>
            <a:r>
              <a:rPr lang="en-US" sz="1300" b="1" dirty="0">
                <a:solidFill>
                  <a:srgbClr val="FFFFFF"/>
                </a:solidFill>
                <a:latin typeface="Arial"/>
              </a:rPr>
              <a:t>14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-10-2026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880360"/>
            <a:ext cx="786384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F1A458"/>
                </a:solidFill>
                <a:latin typeface="Arial"/>
              </a:rPr>
              <a:t>Department of Computer Science and Engineering (AI &amp; ML)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3429000"/>
            <a:ext cx="868680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1A458"/>
                </a:solidFill>
                <a:latin typeface="Arial"/>
              </a:rPr>
              <a:t>Team Members:
V. Maneesh Kumar Reddy – 2420030246   |   Y. Guna Veera Sri Amith – 2420030234
K. Kumar Satya Sai – 2420030202   |   P. Akhil Kumar Reddy – 2420030496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4617720"/>
            <a:ext cx="7498079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F1A458"/>
                </a:solidFill>
                <a:latin typeface="Arial"/>
              </a:rPr>
              <a:t>Faculty Guide: K. Swapnika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4956048"/>
            <a:ext cx="777240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Corresponding Author (Research Paper): V. Maneesh Kumar Reddy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5961888"/>
            <a:ext cx="80467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From adaptive analytics to explainable, dashboard-led decision support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4213A"/>
          </a:solidFill>
          <a:ln>
            <a:solidFill>
              <a:srgbClr val="14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9875520" cy="5029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Review III – Scope &amp; Development Focus</a:t>
            </a:r>
          </a:p>
        </p:txBody>
      </p:sp>
      <p:sp>
        <p:nvSpPr>
          <p:cNvPr id="4" name="Oval 3"/>
          <p:cNvSpPr/>
          <p:nvPr/>
        </p:nvSpPr>
        <p:spPr>
          <a:xfrm>
            <a:off x="11173968" y="137160"/>
            <a:ext cx="585216" cy="585216"/>
          </a:xfrm>
          <a:prstGeom prst="ellipse">
            <a:avLst/>
          </a:prstGeom>
          <a:solidFill>
            <a:srgbClr val="1F918E"/>
          </a:solidFill>
          <a:ln>
            <a:solidFill>
              <a:srgbClr val="1F9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73968" y="164592"/>
            <a:ext cx="58521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111556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2B5E8F"/>
                </a:solidFill>
                <a:latin typeface="Arial"/>
              </a:rPr>
              <a:t>Building on the validated Review II pipeline and extending it toward complete DAV project expectations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111556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0" i="0">
                <a:solidFill>
                  <a:srgbClr val="6F7C8C"/>
                </a:solidFill>
                <a:latin typeface="Arial"/>
              </a:rPr>
              <a:t>Project Review – III  |  Batch 13  |  RetailIQ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566160" cy="1325880"/>
          </a:xfrm>
          <a:prstGeom prst="roundRect">
            <a:avLst>
              <a:gd name="adj" fmla="val 8000"/>
            </a:avLst>
          </a:prstGeom>
          <a:solidFill>
            <a:srgbClr val="F1F6FA"/>
          </a:solidFill>
          <a:ln>
            <a:solidFill>
              <a:srgbClr val="F1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82296" cy="1325880"/>
          </a:xfrm>
          <a:prstGeom prst="rect">
            <a:avLst/>
          </a:prstGeom>
          <a:solidFill>
            <a:srgbClr val="1F918E"/>
          </a:solidFill>
          <a:ln>
            <a:solidFill>
              <a:srgbClr val="1F9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709928"/>
            <a:ext cx="32461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1F918E"/>
                </a:solidFill>
                <a:latin typeface="Arial"/>
              </a:rPr>
              <a:t>REVIEW II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2"/>
            <a:ext cx="3246120" cy="7589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233041"/>
                </a:solidFill>
                <a:latin typeface="Arial"/>
              </a:rPr>
              <a:t>Six-stage data analytics pipeline; ingestion, profiling, cleaning, adaptive routing, visualization and ML evaluation.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600200"/>
            <a:ext cx="3566160" cy="1325880"/>
          </a:xfrm>
          <a:prstGeom prst="roundRect">
            <a:avLst>
              <a:gd name="adj" fmla="val 8000"/>
            </a:avLst>
          </a:prstGeom>
          <a:solidFill>
            <a:srgbClr val="F1F6FA"/>
          </a:solidFill>
          <a:ln>
            <a:solidFill>
              <a:srgbClr val="F1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5968" y="1600200"/>
            <a:ext cx="82296" cy="1325880"/>
          </a:xfrm>
          <a:prstGeom prst="rect">
            <a:avLst/>
          </a:prstGeom>
          <a:solidFill>
            <a:srgbClr val="2B5E8F"/>
          </a:solidFill>
          <a:ln>
            <a:solidFill>
              <a:srgbClr val="2B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98848" y="1709928"/>
            <a:ext cx="32461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2B5E8F"/>
                </a:solidFill>
                <a:latin typeface="Arial"/>
              </a:rPr>
              <a:t>REVIEW III EMPHASIS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084832"/>
            <a:ext cx="3246120" cy="7589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233041"/>
                </a:solidFill>
                <a:latin typeface="Arial"/>
              </a:rPr>
              <a:t>Deeper EDA, feature engineering, model comparison, hybrid-model design, explainability and decision storytelling.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600200"/>
            <a:ext cx="3566160" cy="1325880"/>
          </a:xfrm>
          <a:prstGeom prst="roundRect">
            <a:avLst>
              <a:gd name="adj" fmla="val 8000"/>
            </a:avLst>
          </a:prstGeom>
          <a:solidFill>
            <a:srgbClr val="F1F6FA"/>
          </a:solidFill>
          <a:ln>
            <a:solidFill>
              <a:srgbClr val="F1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19872" y="1600200"/>
            <a:ext cx="82296" cy="1325880"/>
          </a:xfrm>
          <a:prstGeom prst="rect">
            <a:avLst/>
          </a:prstGeom>
          <a:solidFill>
            <a:srgbClr val="1F918E"/>
          </a:solidFill>
          <a:ln>
            <a:solidFill>
              <a:srgbClr val="1F9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1709928"/>
            <a:ext cx="32461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1F918E"/>
                </a:solidFill>
                <a:latin typeface="Arial"/>
              </a:rPr>
              <a:t>EXPECTED 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084832"/>
            <a:ext cx="3246120" cy="7589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233041"/>
                </a:solidFill>
                <a:latin typeface="Arial"/>
              </a:rPr>
              <a:t>A transparent analytics workflow that turns dataset evidence and model outputs into understandable recommendations.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246120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600" b="1" i="0">
                <a:solidFill>
                  <a:srgbClr val="14213A"/>
                </a:solidFill>
                <a:latin typeface="Arial"/>
              </a:rPr>
              <a:t>Development path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03320"/>
            <a:ext cx="2099462" cy="1051560"/>
          </a:xfrm>
          <a:prstGeom prst="roundRect">
            <a:avLst>
              <a:gd name="adj" fmla="val 8000"/>
            </a:avLst>
          </a:prstGeom>
          <a:solidFill>
            <a:srgbClr val="E6F3F4"/>
          </a:solidFill>
          <a:ln>
            <a:solidFill>
              <a:srgbClr val="E6F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6072" y="3794759"/>
            <a:ext cx="1953158" cy="2468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F918E"/>
                </a:solidFill>
                <a:latin typeface="Arial"/>
              </a:rPr>
              <a:t>PROFILE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" y="4069080"/>
            <a:ext cx="1953158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F7C8C"/>
                </a:solidFill>
                <a:latin typeface="Arial"/>
              </a:rPr>
              <a:t>Understand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2382" y="3959352"/>
            <a:ext cx="164592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B5E8F"/>
                </a:solidFill>
                <a:latin typeface="Arial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66974" y="3703320"/>
            <a:ext cx="2099462" cy="1051560"/>
          </a:xfrm>
          <a:prstGeom prst="roundRect">
            <a:avLst>
              <a:gd name="adj" fmla="val 8000"/>
            </a:avLst>
          </a:prstGeom>
          <a:solidFill>
            <a:srgbClr val="F1F6FA"/>
          </a:solidFill>
          <a:ln>
            <a:solidFill>
              <a:srgbClr val="F1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840126" y="3794759"/>
            <a:ext cx="1953158" cy="2468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B5E8F"/>
                </a:solidFill>
                <a:latin typeface="Arial"/>
              </a:rPr>
              <a:t>ANALYZE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40126" y="4069080"/>
            <a:ext cx="1953158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F7C8C"/>
                </a:solidFill>
                <a:latin typeface="Arial"/>
              </a:rPr>
              <a:t>EDA + statistics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66436" y="3959352"/>
            <a:ext cx="164592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B5E8F"/>
                </a:solidFill>
                <a:latin typeface="Arial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31028" y="3703320"/>
            <a:ext cx="2099462" cy="1051560"/>
          </a:xfrm>
          <a:prstGeom prst="roundRect">
            <a:avLst>
              <a:gd name="adj" fmla="val 8000"/>
            </a:avLst>
          </a:prstGeom>
          <a:solidFill>
            <a:srgbClr val="E6F3F4"/>
          </a:solidFill>
          <a:ln>
            <a:solidFill>
              <a:srgbClr val="E6F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04180" y="3794759"/>
            <a:ext cx="1953158" cy="2468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F918E"/>
                </a:solidFill>
                <a:latin typeface="Arial"/>
              </a:rPr>
              <a:t>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04180" y="4069080"/>
            <a:ext cx="1953158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F7C8C"/>
                </a:solidFill>
                <a:latin typeface="Arial"/>
              </a:rPr>
              <a:t>Baseline + alternatives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0491" y="3959352"/>
            <a:ext cx="164592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B5E8F"/>
                </a:solidFill>
                <a:latin typeface="Arial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95083" y="3703320"/>
            <a:ext cx="2099462" cy="1051560"/>
          </a:xfrm>
          <a:prstGeom prst="roundRect">
            <a:avLst>
              <a:gd name="adj" fmla="val 8000"/>
            </a:avLst>
          </a:prstGeom>
          <a:solidFill>
            <a:srgbClr val="F1F6FA"/>
          </a:solidFill>
          <a:ln>
            <a:solidFill>
              <a:srgbClr val="F1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68235" y="3794759"/>
            <a:ext cx="1953158" cy="2468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B5E8F"/>
                </a:solidFill>
                <a:latin typeface="Arial"/>
              </a:rPr>
              <a:t>EXPLAIN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8235" y="4069080"/>
            <a:ext cx="1953158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F7C8C"/>
                </a:solidFill>
                <a:latin typeface="Arial"/>
              </a:rPr>
              <a:t>SHAP / LIME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94545" y="3959352"/>
            <a:ext cx="164592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B5E8F"/>
                </a:solidFill>
                <a:latin typeface="Arial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59137" y="3703320"/>
            <a:ext cx="2099462" cy="1051560"/>
          </a:xfrm>
          <a:prstGeom prst="roundRect">
            <a:avLst>
              <a:gd name="adj" fmla="val 8000"/>
            </a:avLst>
          </a:prstGeom>
          <a:solidFill>
            <a:srgbClr val="E6F3F4"/>
          </a:solidFill>
          <a:ln>
            <a:solidFill>
              <a:srgbClr val="E6F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32289" y="3794759"/>
            <a:ext cx="1953158" cy="2468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F918E"/>
                </a:solidFill>
                <a:latin typeface="Arial"/>
              </a:rPr>
              <a:t>COMMUNICATE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2289" y="4069080"/>
            <a:ext cx="1953158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F7C8C"/>
                </a:solidFill>
                <a:latin typeface="Arial"/>
              </a:rPr>
              <a:t>Dashboard + actions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07492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E6F3F4"/>
          </a:solidFill>
          <a:ln>
            <a:solidFill>
              <a:srgbClr val="E6F3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7240" y="5230368"/>
            <a:ext cx="1060704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2B5E8F"/>
                </a:solidFill>
                <a:latin typeface="Arial"/>
              </a:rPr>
              <a:t>Evidence boundary: Review II reports completed modules and benchmark results; Review III additions are presented as extension scope unless separately validated.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13A"/>
          </a:solidFill>
          <a:ln>
            <a:solidFill>
              <a:srgbClr val="14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91440"/>
            <a:ext cx="996696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End-to-End DAV Project Architecture</a:t>
            </a:r>
          </a:p>
        </p:txBody>
      </p:sp>
      <p:sp>
        <p:nvSpPr>
          <p:cNvPr id="4" name="Oval 3"/>
          <p:cNvSpPr/>
          <p:nvPr/>
        </p:nvSpPr>
        <p:spPr>
          <a:xfrm>
            <a:off x="11201400" y="118872"/>
            <a:ext cx="530352" cy="530352"/>
          </a:xfrm>
          <a:prstGeom prst="ellipse">
            <a:avLst/>
          </a:prstGeom>
          <a:solidFill>
            <a:srgbClr val="1F8F8B"/>
          </a:solidFill>
          <a:ln>
            <a:solidFill>
              <a:srgbClr val="1F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128016"/>
            <a:ext cx="530352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537960"/>
            <a:ext cx="7132320" cy="1828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900" b="0">
                <a:solidFill>
                  <a:srgbClr val="707C8B"/>
                </a:solidFill>
                <a:latin typeface="Aptos"/>
              </a:rPr>
              <a:t>Project Review – III  |  Batch 13  |  RetailIQ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111556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0">
                <a:solidFill>
                  <a:srgbClr val="707C8B"/>
                </a:solidFill>
                <a:latin typeface="Aptos"/>
              </a:rPr>
              <a:t>A single left-to-right pipeline; each stage produces inputs for the next stage.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1755648" cy="1024128"/>
          </a:xfrm>
          <a:prstGeom prst="roundRect">
            <a:avLst>
              <a:gd name="adj" fmla="val 8000"/>
            </a:avLst>
          </a:prstGeom>
          <a:solidFill>
            <a:srgbClr val="EBF5F6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" y="1764792"/>
            <a:ext cx="1609344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>
                <a:solidFill>
                  <a:srgbClr val="1F8F8B"/>
                </a:solidFill>
                <a:latin typeface="Aptos"/>
              </a:rP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2"/>
            <a:ext cx="1572768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50" b="0">
                <a:solidFill>
                  <a:srgbClr val="707C8B"/>
                </a:solidFill>
                <a:latin typeface="Aptos"/>
              </a:rPr>
              <a:t>CSV / XLSX / XLS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6856" y="2203704"/>
            <a:ext cx="91440" cy="0"/>
          </a:xfrm>
          <a:prstGeom prst="line">
            <a:avLst/>
          </a:prstGeom>
          <a:ln w="20320">
            <a:solidFill>
              <a:srgbClr val="1F8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386584" y="1691640"/>
            <a:ext cx="1755648" cy="1024128"/>
          </a:xfrm>
          <a:prstGeom prst="roundRect">
            <a:avLst>
              <a:gd name="adj" fmla="val 8000"/>
            </a:avLst>
          </a:prstGeom>
          <a:solidFill>
            <a:srgbClr val="F0F5F9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59736" y="1764792"/>
            <a:ext cx="1609344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>
                <a:solidFill>
                  <a:srgbClr val="2F5E8F"/>
                </a:solidFill>
                <a:latin typeface="Aptos"/>
              </a:rPr>
              <a:t>PREPARE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78024" y="2084832"/>
            <a:ext cx="1572768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50" b="0">
                <a:solidFill>
                  <a:srgbClr val="707C8B"/>
                </a:solidFill>
                <a:latin typeface="Aptos"/>
              </a:rPr>
              <a:t>Profile • clean • transform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60520" y="2203704"/>
            <a:ext cx="91439" cy="0"/>
          </a:xfrm>
          <a:prstGeom prst="line">
            <a:avLst/>
          </a:prstGeom>
          <a:ln w="20320">
            <a:solidFill>
              <a:srgbClr val="1F8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70248" y="1691640"/>
            <a:ext cx="1755648" cy="1024128"/>
          </a:xfrm>
          <a:prstGeom prst="roundRect">
            <a:avLst>
              <a:gd name="adj" fmla="val 8000"/>
            </a:avLst>
          </a:prstGeom>
          <a:solidFill>
            <a:srgbClr val="EBF5F6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43400" y="1764792"/>
            <a:ext cx="1609344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>
                <a:solidFill>
                  <a:srgbClr val="1F8F8B"/>
                </a:solidFill>
                <a:latin typeface="Aptos"/>
              </a:rPr>
              <a:t>UNDERSTAND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2084832"/>
            <a:ext cx="1572768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50" b="0">
                <a:solidFill>
                  <a:srgbClr val="707C8B"/>
                </a:solidFill>
                <a:latin typeface="Aptos"/>
              </a:rPr>
              <a:t>EDA • statistics • KPIs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44183" y="2203704"/>
            <a:ext cx="91440" cy="0"/>
          </a:xfrm>
          <a:prstGeom prst="line">
            <a:avLst/>
          </a:prstGeom>
          <a:ln w="20320">
            <a:solidFill>
              <a:srgbClr val="1F8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53912" y="1691640"/>
            <a:ext cx="1755648" cy="1024128"/>
          </a:xfrm>
          <a:prstGeom prst="roundRect">
            <a:avLst>
              <a:gd name="adj" fmla="val 8000"/>
            </a:avLst>
          </a:prstGeom>
          <a:solidFill>
            <a:srgbClr val="F0F5F9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27064" y="1764792"/>
            <a:ext cx="1609344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>
                <a:solidFill>
                  <a:srgbClr val="2F5E8F"/>
                </a:solidFill>
                <a:latin typeface="Aptos"/>
              </a:rPr>
              <a:t>ENGINEER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1" y="2084832"/>
            <a:ext cx="1572768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50" b="0">
                <a:solidFill>
                  <a:srgbClr val="707C8B"/>
                </a:solidFill>
                <a:latin typeface="Aptos"/>
              </a:rPr>
              <a:t>Create • select features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927847" y="2203704"/>
            <a:ext cx="91441" cy="0"/>
          </a:xfrm>
          <a:prstGeom prst="line">
            <a:avLst/>
          </a:prstGeom>
          <a:ln w="20320">
            <a:solidFill>
              <a:srgbClr val="1F8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037576" y="1691640"/>
            <a:ext cx="1755648" cy="1024128"/>
          </a:xfrm>
          <a:prstGeom prst="roundRect">
            <a:avLst>
              <a:gd name="adj" fmla="val 8000"/>
            </a:avLst>
          </a:prstGeom>
          <a:solidFill>
            <a:srgbClr val="EBF5F6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10728" y="1764792"/>
            <a:ext cx="1609344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>
                <a:solidFill>
                  <a:srgbClr val="1F8F8B"/>
                </a:solidFill>
                <a:latin typeface="Aptos"/>
              </a:rPr>
              <a:t>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9016" y="2084832"/>
            <a:ext cx="1572768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50" b="0">
                <a:solidFill>
                  <a:srgbClr val="707C8B"/>
                </a:solidFill>
                <a:latin typeface="Aptos"/>
              </a:rPr>
              <a:t>Baseline • alternatives • hybrid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811512" y="2203704"/>
            <a:ext cx="91440" cy="0"/>
          </a:xfrm>
          <a:prstGeom prst="line">
            <a:avLst/>
          </a:prstGeom>
          <a:ln w="20320">
            <a:solidFill>
              <a:srgbClr val="1F8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921240" y="1691640"/>
            <a:ext cx="1755648" cy="1024128"/>
          </a:xfrm>
          <a:prstGeom prst="roundRect">
            <a:avLst>
              <a:gd name="adj" fmla="val 8000"/>
            </a:avLst>
          </a:prstGeom>
          <a:solidFill>
            <a:srgbClr val="F0F5F9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94392" y="1764792"/>
            <a:ext cx="1609344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>
                <a:solidFill>
                  <a:srgbClr val="2F5E8F"/>
                </a:solidFill>
                <a:latin typeface="Aptos"/>
              </a:rPr>
              <a:t>EVALUATE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2084832"/>
            <a:ext cx="1572768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50" b="0">
                <a:solidFill>
                  <a:srgbClr val="707C8B"/>
                </a:solidFill>
                <a:latin typeface="Aptos"/>
              </a:rPr>
              <a:t>Metrics • validation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25880" y="3246120"/>
            <a:ext cx="2148840" cy="1024128"/>
          </a:xfrm>
          <a:prstGeom prst="roundRect">
            <a:avLst>
              <a:gd name="adj" fmla="val 8000"/>
            </a:avLst>
          </a:prstGeom>
          <a:solidFill>
            <a:srgbClr val="EBF5F6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99032" y="3319272"/>
            <a:ext cx="2002536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200" b="1">
                <a:solidFill>
                  <a:srgbClr val="1F8F8B"/>
                </a:solidFill>
                <a:latin typeface="Aptos"/>
              </a:rPr>
              <a:t>EXPLAIN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3639312"/>
            <a:ext cx="1965960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50" b="0">
                <a:solidFill>
                  <a:srgbClr val="707C8B"/>
                </a:solidFill>
                <a:latin typeface="Aptos"/>
              </a:rPr>
              <a:t>SHAP • LIME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493008" y="3758183"/>
            <a:ext cx="347472" cy="0"/>
          </a:xfrm>
          <a:prstGeom prst="line">
            <a:avLst/>
          </a:prstGeom>
          <a:ln w="20320">
            <a:solidFill>
              <a:srgbClr val="1F8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3858768" y="3246120"/>
            <a:ext cx="2148840" cy="1024128"/>
          </a:xfrm>
          <a:prstGeom prst="roundRect">
            <a:avLst>
              <a:gd name="adj" fmla="val 8000"/>
            </a:avLst>
          </a:prstGeom>
          <a:solidFill>
            <a:srgbClr val="F0F5F9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931920" y="3319272"/>
            <a:ext cx="2002536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200" b="1">
                <a:solidFill>
                  <a:srgbClr val="2F5E8F"/>
                </a:solidFill>
                <a:latin typeface="Aptos"/>
              </a:rPr>
              <a:t>VISUALIZE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50207" y="3639312"/>
            <a:ext cx="1965960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50" b="0">
                <a:solidFill>
                  <a:srgbClr val="707C8B"/>
                </a:solidFill>
                <a:latin typeface="Aptos"/>
              </a:rPr>
              <a:t>Interactive analytics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025896" y="3758183"/>
            <a:ext cx="347472" cy="0"/>
          </a:xfrm>
          <a:prstGeom prst="line">
            <a:avLst/>
          </a:prstGeom>
          <a:ln w="20320">
            <a:solidFill>
              <a:srgbClr val="1F8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391656" y="3246120"/>
            <a:ext cx="2148840" cy="1024128"/>
          </a:xfrm>
          <a:prstGeom prst="roundRect">
            <a:avLst>
              <a:gd name="adj" fmla="val 8000"/>
            </a:avLst>
          </a:prstGeom>
          <a:solidFill>
            <a:srgbClr val="EBF5F6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64808" y="3319272"/>
            <a:ext cx="2002536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200" b="1">
                <a:solidFill>
                  <a:srgbClr val="1F8F8B"/>
                </a:solidFill>
                <a:latin typeface="Aptos"/>
              </a:rPr>
              <a:t>DASHBOARD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83096" y="3639312"/>
            <a:ext cx="1965960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50" b="0">
                <a:solidFill>
                  <a:srgbClr val="707C8B"/>
                </a:solidFill>
                <a:latin typeface="Aptos"/>
              </a:rPr>
              <a:t>KPIs • filters • drill-down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558784" y="3758183"/>
            <a:ext cx="347472" cy="0"/>
          </a:xfrm>
          <a:prstGeom prst="line">
            <a:avLst/>
          </a:prstGeom>
          <a:ln w="20320">
            <a:solidFill>
              <a:srgbClr val="1F8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924544" y="3246120"/>
            <a:ext cx="2148840" cy="1024128"/>
          </a:xfrm>
          <a:prstGeom prst="roundRect">
            <a:avLst>
              <a:gd name="adj" fmla="val 8000"/>
            </a:avLst>
          </a:prstGeom>
          <a:solidFill>
            <a:srgbClr val="F0F5F9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997696" y="3319272"/>
            <a:ext cx="2002536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200" b="1">
                <a:solidFill>
                  <a:srgbClr val="2F5E8F"/>
                </a:solidFill>
                <a:latin typeface="Aptos"/>
              </a:rPr>
              <a:t>DECIDE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15984" y="3639312"/>
            <a:ext cx="1965960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50" b="0">
                <a:solidFill>
                  <a:srgbClr val="707C8B"/>
                </a:solidFill>
                <a:latin typeface="Aptos"/>
              </a:rPr>
              <a:t>Story • recommendations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" y="4800600"/>
            <a:ext cx="5257800" cy="1051560"/>
          </a:xfrm>
          <a:prstGeom prst="roundRect">
            <a:avLst>
              <a:gd name="adj" fmla="val 8000"/>
            </a:avLst>
          </a:prstGeom>
          <a:solidFill>
            <a:srgbClr val="EBF5F6"/>
          </a:solidFill>
          <a:ln>
            <a:solidFill>
              <a:srgbClr val="EB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50392" y="4910328"/>
            <a:ext cx="4928616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1">
                <a:solidFill>
                  <a:srgbClr val="1F8F8B"/>
                </a:solidFill>
                <a:latin typeface="Aptos"/>
              </a:rPr>
              <a:t>Design principle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" y="5303520"/>
            <a:ext cx="4928616" cy="4571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263141"/>
                </a:solidFill>
                <a:latin typeface="Aptos"/>
              </a:rPr>
              <a:t>Transparent, reproducible steps; compare models using the same evaluation protocol.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63640" y="4800600"/>
            <a:ext cx="5257800" cy="1051560"/>
          </a:xfrm>
          <a:prstGeom prst="roundRect">
            <a:avLst>
              <a:gd name="adj" fmla="val 8000"/>
            </a:avLst>
          </a:prstGeom>
          <a:solidFill>
            <a:srgbClr val="F0F5F9"/>
          </a:solidFill>
          <a:ln>
            <a:solidFill>
              <a:srgbClr val="F0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28231" y="4910328"/>
            <a:ext cx="4928616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1">
                <a:solidFill>
                  <a:srgbClr val="2F5E8F"/>
                </a:solidFill>
                <a:latin typeface="Aptos"/>
              </a:rPr>
              <a:t>Decision-support outcome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28231" y="5303520"/>
            <a:ext cx="4928616" cy="4571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263141"/>
                </a:solidFill>
                <a:latin typeface="Aptos"/>
              </a:rPr>
              <a:t>Convert analytical evidence into understandable business actions and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4213A"/>
          </a:solidFill>
          <a:ln>
            <a:solidFill>
              <a:srgbClr val="14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9875520" cy="5029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Implementation Status – Verified Baseline</a:t>
            </a:r>
          </a:p>
        </p:txBody>
      </p:sp>
      <p:sp>
        <p:nvSpPr>
          <p:cNvPr id="4" name="Oval 3"/>
          <p:cNvSpPr/>
          <p:nvPr/>
        </p:nvSpPr>
        <p:spPr>
          <a:xfrm>
            <a:off x="11173968" y="137160"/>
            <a:ext cx="585216" cy="585216"/>
          </a:xfrm>
          <a:prstGeom prst="ellipse">
            <a:avLst/>
          </a:prstGeom>
          <a:solidFill>
            <a:srgbClr val="1F918E"/>
          </a:solidFill>
          <a:ln>
            <a:solidFill>
              <a:srgbClr val="1F9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73968" y="164592"/>
            <a:ext cx="58521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111556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2B5E8F"/>
                </a:solidFill>
                <a:latin typeface="Arial"/>
              </a:rPr>
              <a:t>Status carried forward from Review II; no new completion claims are inferred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111556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0" i="0">
                <a:solidFill>
                  <a:srgbClr val="6F7C8C"/>
                </a:solidFill>
                <a:latin typeface="Arial"/>
              </a:rPr>
              <a:t>Project Review – III  |  Batch 13  |  RetailIQ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00200"/>
          <a:ext cx="1115568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Module</a:t>
                      </a:r>
                    </a:p>
                  </a:txBody>
                  <a:tcPr>
                    <a:solidFill>
                      <a:srgbClr val="14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Implementation evidence in Review II</a:t>
                      </a:r>
                    </a:p>
                  </a:txBody>
                  <a:tcPr>
                    <a:solidFill>
                      <a:srgbClr val="142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14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33041"/>
                          </a:solidFill>
                          <a:latin typeface="Arial"/>
                        </a:rPr>
                        <a:t>Data ingestion &amp; profiling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33041"/>
                          </a:solidFill>
                          <a:latin typeface="Arial"/>
                        </a:rPr>
                        <a:t>CSV / XLSX / XLS; schema and missingness profiling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D8B69"/>
                          </a:solidFill>
                          <a:latin typeface="Arial"/>
                        </a:rPr>
                        <a:t>COMPLETED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33041"/>
                          </a:solidFill>
                          <a:latin typeface="Arial"/>
                        </a:rPr>
                        <a:t>Conservative cleaning</a:t>
                      </a:r>
                    </a:p>
                  </a:txBody>
                  <a:tcPr marL="73152" marR="54864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33041"/>
                          </a:solidFill>
                          <a:latin typeface="Arial"/>
                        </a:rPr>
                        <a:t>Column standardization, empty-column and duplicate-row removal, whitespace trim, date parsing</a:t>
                      </a:r>
                    </a:p>
                  </a:txBody>
                  <a:tcPr marL="73152" marR="54864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D8B69"/>
                          </a:solidFill>
                          <a:latin typeface="Arial"/>
                        </a:rPr>
                        <a:t>COMPLETED</a:t>
                      </a:r>
                    </a:p>
                  </a:txBody>
                  <a:tcPr marL="73152" marR="54864"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33041"/>
                          </a:solidFill>
                          <a:latin typeface="Arial"/>
                        </a:rPr>
                        <a:t>Preprocessing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33041"/>
                          </a:solidFill>
                          <a:latin typeface="Arial"/>
                        </a:rPr>
                        <a:t>Median / mode imputation, one-hot encoding, scaling fitted per training fold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D8B69"/>
                          </a:solidFill>
                          <a:latin typeface="Arial"/>
                        </a:rPr>
                        <a:t>COMPLETED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33041"/>
                          </a:solidFill>
                          <a:latin typeface="Arial"/>
                        </a:rPr>
                        <a:t>Adaptive routing</a:t>
                      </a:r>
                    </a:p>
                  </a:txBody>
                  <a:tcPr marL="73152" marR="54864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33041"/>
                          </a:solidFill>
                          <a:latin typeface="Arial"/>
                        </a:rPr>
                        <a:t>Classification / regression / unsupervised inference; 10/10 routing accuracy</a:t>
                      </a:r>
                    </a:p>
                  </a:txBody>
                  <a:tcPr marL="73152" marR="54864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D8B69"/>
                          </a:solidFill>
                          <a:latin typeface="Arial"/>
                        </a:rPr>
                        <a:t>COMPLETED</a:t>
                      </a:r>
                    </a:p>
                  </a:txBody>
                  <a:tcPr marL="73152" marR="54864"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33041"/>
                          </a:solidFill>
                          <a:latin typeface="Arial"/>
                        </a:rPr>
                        <a:t>ML evaluation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33041"/>
                          </a:solidFill>
                          <a:latin typeface="Arial"/>
                        </a:rPr>
                        <a:t>Logistic / Linear Regression, Decision Tree, Random Forest, K-Means (K=2–6)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D8B69"/>
                          </a:solidFill>
                          <a:latin typeface="Arial"/>
                        </a:rPr>
                        <a:t>COMPLETED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33041"/>
                          </a:solidFill>
                          <a:latin typeface="Arial"/>
                        </a:rPr>
                        <a:t>Statistical testing</a:t>
                      </a:r>
                    </a:p>
                  </a:txBody>
                  <a:tcPr marL="73152" marR="54864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33041"/>
                          </a:solidFill>
                          <a:latin typeface="Arial"/>
                        </a:rPr>
                        <a:t>Friedman test + Holm-corrected Wilcoxon comparisons</a:t>
                      </a:r>
                    </a:p>
                  </a:txBody>
                  <a:tcPr marL="73152" marR="54864">
                    <a:solidFill>
                      <a:srgbClr val="F1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D8B69"/>
                          </a:solidFill>
                          <a:latin typeface="Arial"/>
                        </a:rPr>
                        <a:t>COMPLETED</a:t>
                      </a:r>
                    </a:p>
                  </a:txBody>
                  <a:tcPr marL="73152" marR="54864">
                    <a:solidFill>
                      <a:srgbClr val="F1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33041"/>
                          </a:solidFill>
                          <a:latin typeface="Arial"/>
                        </a:rPr>
                        <a:t>Research suite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33041"/>
                          </a:solidFill>
                          <a:latin typeface="Arial"/>
                        </a:rPr>
                        <a:t>10 datasets: 8 public benchmark + 2 synthetic retail (seed 42)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D8B69"/>
                          </a:solidFill>
                          <a:latin typeface="Arial"/>
                        </a:rPr>
                        <a:t>COMPLETED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6053328"/>
            <a:ext cx="109728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900" b="0" i="1">
                <a:solidFill>
                  <a:srgbClr val="6F7C8C"/>
                </a:solidFill>
                <a:latin typeface="Arial"/>
              </a:rPr>
              <a:t>Source: Review II, Implementation slide. Review III extensions are separated from this verified baseline.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13A"/>
          </a:solidFill>
          <a:ln>
            <a:solidFill>
              <a:srgbClr val="14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91440"/>
            <a:ext cx="996696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Data Understanding, Cleaning &amp; Exploratory Analysis</a:t>
            </a:r>
          </a:p>
        </p:txBody>
      </p:sp>
      <p:sp>
        <p:nvSpPr>
          <p:cNvPr id="4" name="Oval 3"/>
          <p:cNvSpPr/>
          <p:nvPr/>
        </p:nvSpPr>
        <p:spPr>
          <a:xfrm>
            <a:off x="11201400" y="118872"/>
            <a:ext cx="530352" cy="530352"/>
          </a:xfrm>
          <a:prstGeom prst="ellipse">
            <a:avLst/>
          </a:prstGeom>
          <a:solidFill>
            <a:srgbClr val="1F8F8B"/>
          </a:solidFill>
          <a:ln>
            <a:solidFill>
              <a:srgbClr val="1F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128016"/>
            <a:ext cx="530352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537960"/>
            <a:ext cx="7132320" cy="1828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900" b="0">
                <a:solidFill>
                  <a:srgbClr val="707C8B"/>
                </a:solidFill>
                <a:latin typeface="Aptos"/>
              </a:rPr>
              <a:t>Project Review – III  |  Batch 13  |  RetailIQ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1115568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0">
                <a:solidFill>
                  <a:srgbClr val="707C8B"/>
                </a:solidFill>
                <a:latin typeface="Aptos"/>
              </a:rPr>
              <a:t>Preparation and exploration are shown as four distinct stages to keep the workflow readable.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4592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EBF5F6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719072"/>
            <a:ext cx="2185415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200" b="1">
                <a:solidFill>
                  <a:srgbClr val="1F8F8B"/>
                </a:solidFill>
                <a:latin typeface="Aptos"/>
              </a:rPr>
              <a:t>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39112"/>
            <a:ext cx="2148839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50" b="0">
                <a:solidFill>
                  <a:srgbClr val="707C8B"/>
                </a:solidFill>
                <a:latin typeface="Aptos"/>
              </a:rPr>
              <a:t>CSV • XLSX • XLS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27248" y="2125980"/>
            <a:ext cx="466343" cy="0"/>
          </a:xfrm>
          <a:prstGeom prst="line">
            <a:avLst/>
          </a:prstGeom>
          <a:ln w="20320">
            <a:solidFill>
              <a:srgbClr val="1F8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611879" y="164592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F0F5F9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85031" y="1719072"/>
            <a:ext cx="2185415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200" b="1">
                <a:solidFill>
                  <a:srgbClr val="2F5E8F"/>
                </a:solidFill>
                <a:latin typeface="Aptos"/>
              </a:rPr>
              <a:t>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039112"/>
            <a:ext cx="2148839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50" b="0">
                <a:solidFill>
                  <a:srgbClr val="707C8B"/>
                </a:solidFill>
                <a:latin typeface="Aptos"/>
              </a:rPr>
              <a:t>Shape • types • missingness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61888" y="2125980"/>
            <a:ext cx="466343" cy="0"/>
          </a:xfrm>
          <a:prstGeom prst="line">
            <a:avLst/>
          </a:prstGeom>
          <a:ln w="20320">
            <a:solidFill>
              <a:srgbClr val="1F8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46519" y="164592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EBF5F6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9671" y="1719072"/>
            <a:ext cx="2185415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200" b="1">
                <a:solidFill>
                  <a:srgbClr val="1F8F8B"/>
                </a:solidFill>
                <a:latin typeface="Aptos"/>
              </a:rPr>
              <a:t>CLEAN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2039112"/>
            <a:ext cx="2148839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50" b="0">
                <a:solidFill>
                  <a:srgbClr val="707C8B"/>
                </a:solidFill>
                <a:latin typeface="Aptos"/>
              </a:rPr>
              <a:t>Duplicates • nulls • outliers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96527" y="2125980"/>
            <a:ext cx="466345" cy="0"/>
          </a:xfrm>
          <a:prstGeom prst="line">
            <a:avLst/>
          </a:prstGeom>
          <a:ln w="20320">
            <a:solidFill>
              <a:srgbClr val="1F8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281159" y="164592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F0F5F9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54311" y="1719072"/>
            <a:ext cx="2185415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200" b="1">
                <a:solidFill>
                  <a:srgbClr val="2F5E8F"/>
                </a:solidFill>
                <a:latin typeface="Aptos"/>
              </a:rPr>
              <a:t>TRANSFORM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599" y="2039112"/>
            <a:ext cx="2148839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50" b="0">
                <a:solidFill>
                  <a:srgbClr val="707C8B"/>
                </a:solidFill>
                <a:latin typeface="Aptos"/>
              </a:rPr>
              <a:t>Encode • scale • normalize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063240"/>
            <a:ext cx="5257800" cy="2057400"/>
          </a:xfrm>
          <a:prstGeom prst="roundRect">
            <a:avLst>
              <a:gd name="adj" fmla="val 8000"/>
            </a:avLst>
          </a:prstGeom>
          <a:solidFill>
            <a:srgbClr val="EBF5F6"/>
          </a:solidFill>
          <a:ln>
            <a:solidFill>
              <a:srgbClr val="EB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392" y="3172968"/>
            <a:ext cx="4928616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1">
                <a:solidFill>
                  <a:srgbClr val="1F8F8B"/>
                </a:solidFill>
                <a:latin typeface="Aptos"/>
              </a:rPr>
              <a:t>DATA QUALITY CHECKS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3566160"/>
            <a:ext cx="4928616" cy="1463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263141"/>
                </a:solidFill>
                <a:latin typeface="Aptos"/>
              </a:rPr>
              <a:t>• Missing-value patterns
• Duplicate and inconsistent records
• Outlier inspection (IQR / Z-score)
• Type and date validation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063240"/>
            <a:ext cx="5257800" cy="2057400"/>
          </a:xfrm>
          <a:prstGeom prst="roundRect">
            <a:avLst>
              <a:gd name="adj" fmla="val 8000"/>
            </a:avLst>
          </a:prstGeom>
          <a:solidFill>
            <a:srgbClr val="F0F5F9"/>
          </a:solidFill>
          <a:ln>
            <a:solidFill>
              <a:srgbClr val="F0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28231" y="3172968"/>
            <a:ext cx="4928616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1">
                <a:solidFill>
                  <a:srgbClr val="2F5E8F"/>
                </a:solidFill>
                <a:latin typeface="Aptos"/>
              </a:rPr>
              <a:t>EDA &amp; STATISTICS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1" y="3566160"/>
            <a:ext cx="4928616" cy="1463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263141"/>
                </a:solidFill>
                <a:latin typeface="Aptos"/>
              </a:rPr>
              <a:t>• Univariate and bivariate summaries
• Distributions and correlations
• Mean, median, variance and covariance
• Hypothesis tests where appropriate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532120"/>
            <a:ext cx="1069848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1F8F8B"/>
                </a:solidFill>
                <a:latin typeface="Aptos"/>
              </a:rPr>
              <a:t>Output: a documented, analysis-ready dataset with visible quality checks.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4213A"/>
          </a:solidFill>
          <a:ln>
            <a:solidFill>
              <a:srgbClr val="14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9875520" cy="5029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Predictive Analytics &amp; Model Comparison</a:t>
            </a:r>
          </a:p>
        </p:txBody>
      </p:sp>
      <p:sp>
        <p:nvSpPr>
          <p:cNvPr id="4" name="Oval 3"/>
          <p:cNvSpPr/>
          <p:nvPr/>
        </p:nvSpPr>
        <p:spPr>
          <a:xfrm>
            <a:off x="11173968" y="137160"/>
            <a:ext cx="585216" cy="585216"/>
          </a:xfrm>
          <a:prstGeom prst="ellipse">
            <a:avLst/>
          </a:prstGeom>
          <a:solidFill>
            <a:srgbClr val="1F918E"/>
          </a:solidFill>
          <a:ln>
            <a:solidFill>
              <a:srgbClr val="1F9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73968" y="164592"/>
            <a:ext cx="58521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111556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2B5E8F"/>
                </a:solidFill>
                <a:latin typeface="Arial"/>
              </a:rPr>
              <a:t>DAV requirement: compare a baseline, existing alternatives and the proposed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111556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0" i="0">
                <a:solidFill>
                  <a:srgbClr val="6F7C8C"/>
                </a:solidFill>
                <a:latin typeface="Arial"/>
              </a:rPr>
              <a:t>Project Review – III  |  Batch 13  |  RetailIQ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45920"/>
            <a:ext cx="3566160" cy="1874519"/>
          </a:xfrm>
          <a:prstGeom prst="roundRect">
            <a:avLst>
              <a:gd name="adj" fmla="val 8000"/>
            </a:avLst>
          </a:prstGeom>
          <a:solidFill>
            <a:srgbClr val="F1F6FA"/>
          </a:solidFill>
          <a:ln>
            <a:solidFill>
              <a:srgbClr val="F1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645920"/>
            <a:ext cx="82296" cy="1874519"/>
          </a:xfrm>
          <a:prstGeom prst="rect">
            <a:avLst/>
          </a:prstGeom>
          <a:solidFill>
            <a:srgbClr val="1F918E"/>
          </a:solidFill>
          <a:ln>
            <a:solidFill>
              <a:srgbClr val="1F9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755648"/>
            <a:ext cx="32461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1F918E"/>
                </a:solidFill>
                <a:latin typeface="Arial"/>
              </a:rPr>
              <a:t>1 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30552"/>
            <a:ext cx="3246120" cy="130759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233041"/>
                </a:solidFill>
                <a:latin typeface="Arial"/>
              </a:rPr>
              <a:t>Start with a simple reference model.
Examples: Logistic Regression / Linear Regression.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645920"/>
            <a:ext cx="3566160" cy="1874519"/>
          </a:xfrm>
          <a:prstGeom prst="roundRect">
            <a:avLst>
              <a:gd name="adj" fmla="val 8000"/>
            </a:avLst>
          </a:prstGeom>
          <a:solidFill>
            <a:srgbClr val="F1F6FA"/>
          </a:solidFill>
          <a:ln>
            <a:solidFill>
              <a:srgbClr val="F1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5968" y="1645920"/>
            <a:ext cx="82296" cy="1874519"/>
          </a:xfrm>
          <a:prstGeom prst="rect">
            <a:avLst/>
          </a:prstGeom>
          <a:solidFill>
            <a:srgbClr val="2B5E8F"/>
          </a:solidFill>
          <a:ln>
            <a:solidFill>
              <a:srgbClr val="2B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98848" y="1755648"/>
            <a:ext cx="32461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2B5E8F"/>
                </a:solidFill>
                <a:latin typeface="Arial"/>
              </a:rPr>
              <a:t>2  EXISTING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130552"/>
            <a:ext cx="3246120" cy="130759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233041"/>
                </a:solidFill>
                <a:latin typeface="Arial"/>
              </a:rPr>
              <a:t>Compare suitable alternatives.
Decision Tree • Random Forest • SVM • KNN • XGBoost (where applicable).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645920"/>
            <a:ext cx="3566160" cy="1874519"/>
          </a:xfrm>
          <a:prstGeom prst="roundRect">
            <a:avLst>
              <a:gd name="adj" fmla="val 8000"/>
            </a:avLst>
          </a:prstGeom>
          <a:solidFill>
            <a:srgbClr val="F1F6FA"/>
          </a:solidFill>
          <a:ln>
            <a:solidFill>
              <a:srgbClr val="F1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19872" y="1645920"/>
            <a:ext cx="82296" cy="1874519"/>
          </a:xfrm>
          <a:prstGeom prst="rect">
            <a:avLst/>
          </a:prstGeom>
          <a:solidFill>
            <a:srgbClr val="1F918E"/>
          </a:solidFill>
          <a:ln>
            <a:solidFill>
              <a:srgbClr val="1F9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1755648"/>
            <a:ext cx="32461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1F918E"/>
                </a:solidFill>
                <a:latin typeface="Arial"/>
              </a:rPr>
              <a:t>3  PROPOSED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130552"/>
            <a:ext cx="3246120" cy="130759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233041"/>
                </a:solidFill>
                <a:latin typeface="Arial"/>
              </a:rPr>
              <a:t>Justify a feature-level, algorithm-level or statistical + ML combination; evaluate against the same protocol.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886200"/>
            <a:ext cx="10972800" cy="1417320"/>
          </a:xfrm>
          <a:prstGeom prst="roundRect">
            <a:avLst>
              <a:gd name="adj" fmla="val 8000"/>
            </a:avLst>
          </a:prstGeom>
          <a:solidFill>
            <a:srgbClr val="14213A"/>
          </a:solidFill>
          <a:ln>
            <a:solidFill>
              <a:srgbClr val="14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4050791"/>
            <a:ext cx="1051560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Evaluation metrics by 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443984"/>
            <a:ext cx="10515600" cy="6217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Classification: Accuracy, Precision, Recall, F1, ROC-AUC / PR-AUC, confusion matrix
Regression: MAE, MSE, RMSE, MAPE, R²     |     Clustering: Silhouette, Davies–Bouldin, Calinski–Harabasz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623560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1">
                <a:solidFill>
                  <a:srgbClr val="6F7C8C"/>
                </a:solidFill>
                <a:latin typeface="Arial"/>
              </a:rPr>
              <a:t>Review II benchmark results remain the current quantitative baseline; no new Review III model scores are claimed 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13A"/>
          </a:solidFill>
          <a:ln>
            <a:solidFill>
              <a:srgbClr val="14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91440"/>
            <a:ext cx="996696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Hybrid Model Building – Proposed Evaluation Path</a:t>
            </a:r>
          </a:p>
        </p:txBody>
      </p:sp>
      <p:sp>
        <p:nvSpPr>
          <p:cNvPr id="4" name="Oval 3"/>
          <p:cNvSpPr/>
          <p:nvPr/>
        </p:nvSpPr>
        <p:spPr>
          <a:xfrm>
            <a:off x="11201400" y="118872"/>
            <a:ext cx="530352" cy="530352"/>
          </a:xfrm>
          <a:prstGeom prst="ellipse">
            <a:avLst/>
          </a:prstGeom>
          <a:solidFill>
            <a:srgbClr val="1F8F8B"/>
          </a:solidFill>
          <a:ln>
            <a:solidFill>
              <a:srgbClr val="1F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128016"/>
            <a:ext cx="530352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537960"/>
            <a:ext cx="7132320" cy="1828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900" b="0">
                <a:solidFill>
                  <a:srgbClr val="707C8B"/>
                </a:solidFill>
                <a:latin typeface="Aptos"/>
              </a:rPr>
              <a:t>Project Review – III  |  Batch 13  |  RetailIQ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0">
                <a:solidFill>
                  <a:srgbClr val="707C8B"/>
                </a:solidFill>
                <a:latin typeface="Aptos"/>
              </a:rPr>
              <a:t>The hybrid candidate must be justified and compared fairly against baseline and existing models.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EBF5F6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764792"/>
            <a:ext cx="1819656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>
                <a:solidFill>
                  <a:srgbClr val="1F8F8B"/>
                </a:solidFill>
                <a:latin typeface="Aptos"/>
              </a:rPr>
              <a:t>RAW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84832"/>
            <a:ext cx="1783080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50" b="0">
                <a:solidFill>
                  <a:srgbClr val="707C8B"/>
                </a:solidFill>
                <a:latin typeface="Aptos"/>
              </a:rPr>
              <a:t>Retail dataset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70048" y="2217420"/>
            <a:ext cx="310896" cy="0"/>
          </a:xfrm>
          <a:prstGeom prst="line">
            <a:avLst/>
          </a:prstGeom>
          <a:ln w="20320">
            <a:solidFill>
              <a:srgbClr val="1F8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99232" y="169164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F0F5F9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72384" y="1764792"/>
            <a:ext cx="1819656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>
                <a:solidFill>
                  <a:srgbClr val="2F5E8F"/>
                </a:solidFill>
                <a:latin typeface="Aptos"/>
              </a:rPr>
              <a:t>PREPROCESS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2084832"/>
            <a:ext cx="1783080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50" b="0">
                <a:solidFill>
                  <a:srgbClr val="707C8B"/>
                </a:solidFill>
                <a:latin typeface="Aptos"/>
              </a:rPr>
              <a:t>Fit on training folds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83479" y="2217420"/>
            <a:ext cx="310896" cy="0"/>
          </a:xfrm>
          <a:prstGeom prst="line">
            <a:avLst/>
          </a:prstGeom>
          <a:ln w="20320">
            <a:solidFill>
              <a:srgbClr val="1F8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312664" y="169164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EBF5F6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85816" y="1764792"/>
            <a:ext cx="1819656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>
                <a:solidFill>
                  <a:srgbClr val="1F8F8B"/>
                </a:solidFill>
                <a:latin typeface="Aptos"/>
              </a:rPr>
              <a:t>FEATURE STAGE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4103" y="2084832"/>
            <a:ext cx="1783080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50" b="0">
                <a:solidFill>
                  <a:srgbClr val="707C8B"/>
                </a:solidFill>
                <a:latin typeface="Aptos"/>
              </a:rPr>
              <a:t>Selection / PCA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296911" y="2217420"/>
            <a:ext cx="310897" cy="0"/>
          </a:xfrm>
          <a:prstGeom prst="line">
            <a:avLst/>
          </a:prstGeom>
          <a:ln w="20320">
            <a:solidFill>
              <a:srgbClr val="1F8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626096" y="169164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F0F5F9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99248" y="1764792"/>
            <a:ext cx="1819656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>
                <a:solidFill>
                  <a:srgbClr val="2F5E8F"/>
                </a:solidFill>
                <a:latin typeface="Aptos"/>
              </a:rPr>
              <a:t>MODEL CANDIDATES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17536" y="2084832"/>
            <a:ext cx="1783080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50" b="0">
                <a:solidFill>
                  <a:srgbClr val="707C8B"/>
                </a:solidFill>
                <a:latin typeface="Aptos"/>
              </a:rPr>
              <a:t>Baseline + alternatives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610344" y="2217420"/>
            <a:ext cx="310896" cy="0"/>
          </a:xfrm>
          <a:prstGeom prst="line">
            <a:avLst/>
          </a:prstGeom>
          <a:ln w="20320">
            <a:solidFill>
              <a:srgbClr val="1F8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939528" y="169164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EBF5F6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12680" y="1764792"/>
            <a:ext cx="1819656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>
                <a:solidFill>
                  <a:srgbClr val="1F8F8B"/>
                </a:solidFill>
                <a:latin typeface="Aptos"/>
              </a:rPr>
              <a:t>COMMON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30967" y="2084832"/>
            <a:ext cx="1783080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50" b="0">
                <a:solidFill>
                  <a:srgbClr val="707C8B"/>
                </a:solidFill>
                <a:latin typeface="Aptos"/>
              </a:rPr>
              <a:t>Same split + metrics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33756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EBF5F6"/>
          </a:solidFill>
          <a:ln>
            <a:solidFill>
              <a:srgbClr val="EB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0392" y="3447288"/>
            <a:ext cx="3191256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1">
                <a:solidFill>
                  <a:srgbClr val="1F8F8B"/>
                </a:solidFill>
                <a:latin typeface="Aptos"/>
              </a:rPr>
              <a:t>BASELINE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3840480"/>
            <a:ext cx="3191256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263141"/>
                </a:solidFill>
                <a:latin typeface="Aptos"/>
              </a:rPr>
              <a:t>Example: Logistic Regression
(or Linear Regression for a continuous target).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333756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0F5F9"/>
          </a:solidFill>
          <a:ln>
            <a:solidFill>
              <a:srgbClr val="F0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07992" y="3447288"/>
            <a:ext cx="3191256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1">
                <a:solidFill>
                  <a:srgbClr val="2F5E8F"/>
                </a:solidFill>
                <a:latin typeface="Aptos"/>
              </a:rPr>
              <a:t>EXISTING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07992" y="3840480"/>
            <a:ext cx="3191256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263141"/>
                </a:solidFill>
                <a:latin typeface="Aptos"/>
              </a:rPr>
              <a:t>Examples: Decision Tree, Random Forest, SVM or XGBoost where suitable.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01000" y="333756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EBF5F6"/>
          </a:solidFill>
          <a:ln>
            <a:solidFill>
              <a:srgbClr val="EB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65592" y="3447288"/>
            <a:ext cx="3191256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1">
                <a:solidFill>
                  <a:srgbClr val="1F8F8B"/>
                </a:solidFill>
                <a:latin typeface="Aptos"/>
              </a:rPr>
              <a:t>PROPOSED HYBRID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65592" y="3840480"/>
            <a:ext cx="3191256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263141"/>
                </a:solidFill>
                <a:latin typeface="Aptos"/>
              </a:rPr>
              <a:t>Select a justified feature-level, algorithm-level or statistical + ML combination.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166360"/>
            <a:ext cx="10698480" cy="5943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1F8F8B"/>
                </a:solidFill>
                <a:latin typeface="Aptos"/>
              </a:rPr>
              <a:t>Compare task-appropriate metrics on the same evaluation protocol. Do not claim the hybrid is better until measured.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13A"/>
          </a:solidFill>
          <a:ln>
            <a:solidFill>
              <a:srgbClr val="14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91440"/>
            <a:ext cx="996696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Explainable AI – Understanding Model Decisions</a:t>
            </a:r>
          </a:p>
        </p:txBody>
      </p:sp>
      <p:sp>
        <p:nvSpPr>
          <p:cNvPr id="4" name="Oval 3"/>
          <p:cNvSpPr/>
          <p:nvPr/>
        </p:nvSpPr>
        <p:spPr>
          <a:xfrm>
            <a:off x="11201400" y="118872"/>
            <a:ext cx="530352" cy="530352"/>
          </a:xfrm>
          <a:prstGeom prst="ellipse">
            <a:avLst/>
          </a:prstGeom>
          <a:solidFill>
            <a:srgbClr val="1F8F8B"/>
          </a:solidFill>
          <a:ln>
            <a:solidFill>
              <a:srgbClr val="1F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128016"/>
            <a:ext cx="530352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537960"/>
            <a:ext cx="7132320" cy="1828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900" b="0">
                <a:solidFill>
                  <a:srgbClr val="707C8B"/>
                </a:solidFill>
                <a:latin typeface="Aptos"/>
              </a:rPr>
              <a:t>Project Review – III  |  Batch 13  |  RetailIQ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0">
                <a:solidFill>
                  <a:srgbClr val="707C8B"/>
                </a:solidFill>
                <a:latin typeface="Aptos"/>
              </a:rPr>
              <a:t>Core question: Why did the model make this prediction?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691640"/>
            <a:ext cx="2148840" cy="1024128"/>
          </a:xfrm>
          <a:prstGeom prst="roundRect">
            <a:avLst>
              <a:gd name="adj" fmla="val 8000"/>
            </a:avLst>
          </a:prstGeom>
          <a:solidFill>
            <a:srgbClr val="EBF5F6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764792"/>
            <a:ext cx="2002536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200" b="1">
                <a:solidFill>
                  <a:srgbClr val="1F8F8B"/>
                </a:solidFill>
                <a:latin typeface="Aptos"/>
              </a:rPr>
              <a:t>MODEL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84832"/>
            <a:ext cx="1965960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50" b="0">
                <a:solidFill>
                  <a:srgbClr val="707C8B"/>
                </a:solidFill>
                <a:latin typeface="Aptos"/>
              </a:rPr>
              <a:t>Prediction / score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81528" y="2203704"/>
            <a:ext cx="466344" cy="0"/>
          </a:xfrm>
          <a:prstGeom prst="line">
            <a:avLst/>
          </a:prstGeom>
          <a:ln w="20320">
            <a:solidFill>
              <a:srgbClr val="1F8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66160" y="1691640"/>
            <a:ext cx="2148840" cy="1024128"/>
          </a:xfrm>
          <a:prstGeom prst="roundRect">
            <a:avLst>
              <a:gd name="adj" fmla="val 8000"/>
            </a:avLst>
          </a:prstGeom>
          <a:solidFill>
            <a:srgbClr val="F0F5F9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9312" y="1764792"/>
            <a:ext cx="2002536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200" b="1">
                <a:solidFill>
                  <a:srgbClr val="2F5E8F"/>
                </a:solidFill>
                <a:latin typeface="Aptos"/>
              </a:rPr>
              <a:t>EXPLANATION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084832"/>
            <a:ext cx="1965960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50" b="0">
                <a:solidFill>
                  <a:srgbClr val="707C8B"/>
                </a:solidFill>
                <a:latin typeface="Aptos"/>
              </a:rPr>
              <a:t>SHAP + LIME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33288" y="2203704"/>
            <a:ext cx="466343" cy="0"/>
          </a:xfrm>
          <a:prstGeom prst="line">
            <a:avLst/>
          </a:prstGeom>
          <a:ln w="20320">
            <a:solidFill>
              <a:srgbClr val="1F8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17920" y="1691640"/>
            <a:ext cx="2148840" cy="1024128"/>
          </a:xfrm>
          <a:prstGeom prst="roundRect">
            <a:avLst>
              <a:gd name="adj" fmla="val 8000"/>
            </a:avLst>
          </a:prstGeom>
          <a:solidFill>
            <a:srgbClr val="EBF5F6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91072" y="1764792"/>
            <a:ext cx="2002536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200" b="1">
                <a:solidFill>
                  <a:srgbClr val="1F8F8B"/>
                </a:solidFill>
                <a:latin typeface="Aptos"/>
              </a:rP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84832"/>
            <a:ext cx="1965960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50" b="0">
                <a:solidFill>
                  <a:srgbClr val="707C8B"/>
                </a:solidFill>
                <a:latin typeface="Aptos"/>
              </a:rPr>
              <a:t>Drivers + caveats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385048" y="2203704"/>
            <a:ext cx="466344" cy="0"/>
          </a:xfrm>
          <a:prstGeom prst="line">
            <a:avLst/>
          </a:prstGeom>
          <a:ln w="20320">
            <a:solidFill>
              <a:srgbClr val="1F8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869680" y="1691640"/>
            <a:ext cx="2148840" cy="1024128"/>
          </a:xfrm>
          <a:prstGeom prst="roundRect">
            <a:avLst>
              <a:gd name="adj" fmla="val 8000"/>
            </a:avLst>
          </a:prstGeom>
          <a:solidFill>
            <a:srgbClr val="F0F5F9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42832" y="1764792"/>
            <a:ext cx="2002536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200" b="1">
                <a:solidFill>
                  <a:srgbClr val="2F5E8F"/>
                </a:solidFill>
                <a:latin typeface="Aptos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084832"/>
            <a:ext cx="1965960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50" b="0">
                <a:solidFill>
                  <a:srgbClr val="707C8B"/>
                </a:solidFill>
                <a:latin typeface="Aptos"/>
              </a:rPr>
              <a:t>Review / respond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246120"/>
            <a:ext cx="5257800" cy="1828800"/>
          </a:xfrm>
          <a:prstGeom prst="roundRect">
            <a:avLst>
              <a:gd name="adj" fmla="val 8000"/>
            </a:avLst>
          </a:prstGeom>
          <a:solidFill>
            <a:srgbClr val="EBF5F6"/>
          </a:solidFill>
          <a:ln>
            <a:solidFill>
              <a:srgbClr val="EB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392" y="3355848"/>
            <a:ext cx="4928616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1">
                <a:solidFill>
                  <a:srgbClr val="1F8F8B"/>
                </a:solidFill>
                <a:latin typeface="Aptos"/>
              </a:rPr>
              <a:t>SHAP • GLOBAL + LOCAL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3749039"/>
            <a:ext cx="4928616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263141"/>
                </a:solidFill>
                <a:latin typeface="Aptos"/>
              </a:rPr>
              <a:t>• Feature contribution values
• Global feature importance
• Summary, bar and dependence plots
• Waterfall plot for an individual prediction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246120"/>
            <a:ext cx="5257800" cy="1828800"/>
          </a:xfrm>
          <a:prstGeom prst="roundRect">
            <a:avLst>
              <a:gd name="adj" fmla="val 8000"/>
            </a:avLst>
          </a:prstGeom>
          <a:solidFill>
            <a:srgbClr val="F0F5F9"/>
          </a:solidFill>
          <a:ln>
            <a:solidFill>
              <a:srgbClr val="F0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28231" y="3355848"/>
            <a:ext cx="4928616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1">
                <a:solidFill>
                  <a:srgbClr val="2F5E8F"/>
                </a:solidFill>
                <a:latin typeface="Aptos"/>
              </a:rPr>
              <a:t>LIME • LOCAL EXPLANATION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1" y="3749039"/>
            <a:ext cx="4928616" cy="1234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263141"/>
                </a:solidFill>
                <a:latin typeface="Aptos"/>
              </a:rPr>
              <a:t>• Explain an individual prediction
• Identify important contributing features
• Present a human-readable explanation
• Compare local explanations with SHAP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40680"/>
            <a:ext cx="1069848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8F8B"/>
                </a:solidFill>
                <a:latin typeface="Aptos"/>
              </a:rPr>
              <a:t>Use explanations to support interpretation; do not present feature contribution as proof of causation.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4213A"/>
          </a:solidFill>
          <a:ln>
            <a:solidFill>
              <a:srgbClr val="14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9875520" cy="5029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Visual Analytics &amp; Dashboard Design</a:t>
            </a:r>
          </a:p>
        </p:txBody>
      </p:sp>
      <p:sp>
        <p:nvSpPr>
          <p:cNvPr id="4" name="Oval 3"/>
          <p:cNvSpPr/>
          <p:nvPr/>
        </p:nvSpPr>
        <p:spPr>
          <a:xfrm>
            <a:off x="11173968" y="137160"/>
            <a:ext cx="585216" cy="585216"/>
          </a:xfrm>
          <a:prstGeom prst="ellipse">
            <a:avLst/>
          </a:prstGeom>
          <a:solidFill>
            <a:srgbClr val="1F918E"/>
          </a:solidFill>
          <a:ln>
            <a:solidFill>
              <a:srgbClr val="1F9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73968" y="164592"/>
            <a:ext cx="58521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111556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2B5E8F"/>
                </a:solidFill>
                <a:latin typeface="Arial"/>
              </a:rPr>
              <a:t>Dashboard structure follows the DAV guideline: KPIs first, trends next, detailed analysis below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111556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0" i="0">
                <a:solidFill>
                  <a:srgbClr val="6F7C8C"/>
                </a:solidFill>
                <a:latin typeface="Arial"/>
              </a:rPr>
              <a:t>Project Review – III  |  Batch 13  |  RetailIQ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11155680" cy="4526280"/>
          </a:xfrm>
          <a:prstGeom prst="roundRect">
            <a:avLst>
              <a:gd name="adj" fmla="val 8000"/>
            </a:avLst>
          </a:prstGeom>
          <a:solidFill>
            <a:srgbClr val="F1F6FA"/>
          </a:solidFill>
          <a:ln>
            <a:solidFill>
              <a:srgbClr val="F1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2423160" cy="731520"/>
          </a:xfrm>
          <a:prstGeom prst="roundRect">
            <a:avLst>
              <a:gd name="adj" fmla="val 8000"/>
            </a:avLst>
          </a:prstGeom>
          <a:solidFill>
            <a:srgbClr val="14213A"/>
          </a:solidFill>
          <a:ln>
            <a:solidFill>
              <a:srgbClr val="14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883664"/>
            <a:ext cx="22402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1A458"/>
                </a:solidFill>
                <a:latin typeface="Arial"/>
              </a:rPr>
              <a:t>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76272"/>
            <a:ext cx="22402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KPI 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783080"/>
            <a:ext cx="2423160" cy="731520"/>
          </a:xfrm>
          <a:prstGeom prst="roundRect">
            <a:avLst>
              <a:gd name="adj" fmla="val 8000"/>
            </a:avLst>
          </a:prstGeom>
          <a:solidFill>
            <a:srgbClr val="14213A"/>
          </a:solidFill>
          <a:ln>
            <a:solidFill>
              <a:srgbClr val="14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6160" y="1883664"/>
            <a:ext cx="22402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1A458"/>
                </a:solidFill>
                <a:latin typeface="Arial"/>
              </a:rPr>
              <a:t>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176272"/>
            <a:ext cx="22402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KPI 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783080"/>
            <a:ext cx="2423160" cy="731520"/>
          </a:xfrm>
          <a:prstGeom prst="roundRect">
            <a:avLst>
              <a:gd name="adj" fmla="val 8000"/>
            </a:avLst>
          </a:prstGeom>
          <a:solidFill>
            <a:srgbClr val="14213A"/>
          </a:solidFill>
          <a:ln>
            <a:solidFill>
              <a:srgbClr val="14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59" y="1883664"/>
            <a:ext cx="22402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1A458"/>
                </a:solidFill>
                <a:latin typeface="Arial"/>
              </a:rPr>
              <a:t>Retention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176272"/>
            <a:ext cx="22402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KPI 03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783080"/>
            <a:ext cx="2423160" cy="731520"/>
          </a:xfrm>
          <a:prstGeom prst="roundRect">
            <a:avLst>
              <a:gd name="adj" fmla="val 8000"/>
            </a:avLst>
          </a:prstGeom>
          <a:solidFill>
            <a:srgbClr val="14213A"/>
          </a:solidFill>
          <a:ln>
            <a:solidFill>
              <a:srgbClr val="14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52560" y="1883664"/>
            <a:ext cx="224028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1A458"/>
                </a:solidFill>
                <a:latin typeface="Arial"/>
              </a:rPr>
              <a:t>Anomalies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176272"/>
            <a:ext cx="22402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KPI 04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743200"/>
            <a:ext cx="50292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2852928"/>
            <a:ext cx="466344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2B5E8F"/>
                </a:solidFill>
                <a:latin typeface="Arial"/>
              </a:rPr>
              <a:t>Sales / revenue trend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51560" y="3931920"/>
            <a:ext cx="4343400" cy="0"/>
          </a:xfrm>
          <a:prstGeom prst="line">
            <a:avLst/>
          </a:prstGeom>
          <a:ln w="10160">
            <a:solidFill>
              <a:srgbClr val="6F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51560" y="3246120"/>
            <a:ext cx="0" cy="685800"/>
          </a:xfrm>
          <a:prstGeom prst="line">
            <a:avLst/>
          </a:prstGeom>
          <a:ln w="10160">
            <a:solidFill>
              <a:srgbClr val="6F7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234440" y="3611880"/>
            <a:ext cx="594360" cy="182880"/>
          </a:xfrm>
          <a:prstGeom prst="line">
            <a:avLst/>
          </a:prstGeom>
          <a:ln w="25400">
            <a:solidFill>
              <a:srgbClr val="1F91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0" y="3611880"/>
            <a:ext cx="594360" cy="64007"/>
          </a:xfrm>
          <a:prstGeom prst="line">
            <a:avLst/>
          </a:prstGeom>
          <a:ln w="25400">
            <a:solidFill>
              <a:srgbClr val="1F91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423160" y="3383280"/>
            <a:ext cx="594360" cy="292607"/>
          </a:xfrm>
          <a:prstGeom prst="line">
            <a:avLst/>
          </a:prstGeom>
          <a:ln w="25400">
            <a:solidFill>
              <a:srgbClr val="1F91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017520" y="3383280"/>
            <a:ext cx="594360" cy="73152"/>
          </a:xfrm>
          <a:prstGeom prst="line">
            <a:avLst/>
          </a:prstGeom>
          <a:ln w="25400">
            <a:solidFill>
              <a:srgbClr val="1F91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611880" y="3154680"/>
            <a:ext cx="594360" cy="301752"/>
          </a:xfrm>
          <a:prstGeom prst="line">
            <a:avLst/>
          </a:prstGeom>
          <a:ln w="25400">
            <a:solidFill>
              <a:srgbClr val="1F91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206240" y="3154680"/>
            <a:ext cx="777240" cy="91440"/>
          </a:xfrm>
          <a:prstGeom prst="line">
            <a:avLst/>
          </a:prstGeom>
          <a:ln w="25400">
            <a:solidFill>
              <a:srgbClr val="1F91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989320" y="2743200"/>
            <a:ext cx="51663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72200" y="2852928"/>
            <a:ext cx="475488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2B5E8F"/>
                </a:solidFill>
                <a:latin typeface="Arial"/>
              </a:rPr>
              <a:t>Customer / product segments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474720"/>
            <a:ext cx="438912" cy="411480"/>
          </a:xfrm>
          <a:prstGeom prst="rect">
            <a:avLst/>
          </a:prstGeom>
          <a:solidFill>
            <a:srgbClr val="1F918E"/>
          </a:solidFill>
          <a:ln>
            <a:solidFill>
              <a:srgbClr val="1F9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178040" y="3154680"/>
            <a:ext cx="438912" cy="731520"/>
          </a:xfrm>
          <a:prstGeom prst="rect">
            <a:avLst/>
          </a:prstGeom>
          <a:solidFill>
            <a:srgbClr val="2B5E8F"/>
          </a:solidFill>
          <a:ln>
            <a:solidFill>
              <a:srgbClr val="2B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955279" y="3319272"/>
            <a:ext cx="438912" cy="566928"/>
          </a:xfrm>
          <a:prstGeom prst="rect">
            <a:avLst/>
          </a:prstGeom>
          <a:solidFill>
            <a:srgbClr val="1F918E"/>
          </a:solidFill>
          <a:ln>
            <a:solidFill>
              <a:srgbClr val="1F9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732520" y="2926080"/>
            <a:ext cx="438912" cy="960120"/>
          </a:xfrm>
          <a:prstGeom prst="rect">
            <a:avLst/>
          </a:prstGeom>
          <a:solidFill>
            <a:srgbClr val="2B5E8F"/>
          </a:solidFill>
          <a:ln>
            <a:solidFill>
              <a:srgbClr val="2B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509760" y="3227832"/>
            <a:ext cx="438912" cy="658368"/>
          </a:xfrm>
          <a:prstGeom prst="rect">
            <a:avLst/>
          </a:prstGeom>
          <a:solidFill>
            <a:srgbClr val="1F918E"/>
          </a:solidFill>
          <a:ln>
            <a:solidFill>
              <a:srgbClr val="1F9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31520" y="4389120"/>
            <a:ext cx="104241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4526280"/>
            <a:ext cx="987552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2B5E8F"/>
                </a:solidFill>
                <a:latin typeface="Arial"/>
              </a:rPr>
              <a:t>Detailed analysis • filters • drill-down • model explanation • recommendations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892040"/>
            <a:ext cx="987552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6F7C8C"/>
                </a:solidFill>
                <a:latin typeface="Arial"/>
              </a:rPr>
              <a:t>Filter examples: time period, product category, location, customer segment and risk level. Charts shown are illustrative layout elements, not measured project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13A"/>
          </a:solidFill>
          <a:ln>
            <a:solidFill>
              <a:srgbClr val="14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91440"/>
            <a:ext cx="996696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Application Portal – Review III Walkthrough</a:t>
            </a:r>
          </a:p>
        </p:txBody>
      </p:sp>
      <p:sp>
        <p:nvSpPr>
          <p:cNvPr id="4" name="Oval 3"/>
          <p:cNvSpPr/>
          <p:nvPr/>
        </p:nvSpPr>
        <p:spPr>
          <a:xfrm>
            <a:off x="11201400" y="118872"/>
            <a:ext cx="530352" cy="530352"/>
          </a:xfrm>
          <a:prstGeom prst="ellipse">
            <a:avLst/>
          </a:prstGeom>
          <a:solidFill>
            <a:srgbClr val="1F8F8B"/>
          </a:solidFill>
          <a:ln>
            <a:solidFill>
              <a:srgbClr val="1F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128016"/>
            <a:ext cx="530352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537960"/>
            <a:ext cx="7132320" cy="1828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900" b="0">
                <a:solidFill>
                  <a:srgbClr val="707C8B"/>
                </a:solidFill>
                <a:latin typeface="Aptos"/>
              </a:rPr>
              <a:t>Project Review – III  |  Batch 13  |  RetailIQ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05840"/>
            <a:ext cx="111556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0">
                <a:solidFill>
                  <a:srgbClr val="707C8B"/>
                </a:solidFill>
                <a:latin typeface="Aptos"/>
              </a:rPr>
              <a:t>Replace each outlined panel with a screenshot captured from the running project portal.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5349240" cy="1874519"/>
          </a:xfrm>
          <a:prstGeom prst="rect">
            <a:avLst/>
          </a:prstGeom>
          <a:solidFill>
            <a:srgbClr val="FAFCFD"/>
          </a:solidFill>
          <a:ln w="19050">
            <a:solidFill>
              <a:srgbClr val="1F8F8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801368"/>
            <a:ext cx="507492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1F8F8B"/>
                </a:solidFill>
                <a:latin typeface="Aptos"/>
              </a:rPr>
              <a:t>SCREENSHOT 1 • PORTAL HOME / 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50008"/>
            <a:ext cx="4983479" cy="91439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707C8B"/>
                </a:solidFill>
                <a:latin typeface="Aptos"/>
              </a:rPr>
              <a:t>Show the portal landing page and the dataset upload control.
Capture the application title and supported file types.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45536"/>
            <a:ext cx="4983479" cy="20116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00" b="1">
                <a:solidFill>
                  <a:srgbClr val="EF9E52"/>
                </a:solidFill>
                <a:latin typeface="Aptos"/>
              </a:rPr>
              <a:t>REPLACE WITH ACTUAL PORTAL SCREENSHOT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5349240" cy="1874519"/>
          </a:xfrm>
          <a:prstGeom prst="rect">
            <a:avLst/>
          </a:prstGeom>
          <a:solidFill>
            <a:srgbClr val="FAFCFD"/>
          </a:solidFill>
          <a:ln w="19050">
            <a:solidFill>
              <a:srgbClr val="1F8F8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801368"/>
            <a:ext cx="507492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1F8F8B"/>
                </a:solidFill>
                <a:latin typeface="Aptos"/>
              </a:rPr>
              <a:t>SCREENSHOT 2 • DATA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50008"/>
            <a:ext cx="4983479" cy="91439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707C8B"/>
                </a:solidFill>
                <a:latin typeface="Aptos"/>
              </a:rPr>
              <a:t>Show the uploaded dataset profile, schema, missing values and cleaning summary.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45536"/>
            <a:ext cx="4983479" cy="20116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00" b="1">
                <a:solidFill>
                  <a:srgbClr val="EF9E52"/>
                </a:solidFill>
                <a:latin typeface="Aptos"/>
              </a:rPr>
              <a:t>REPLACE WITH ACTUAL PORTAL SCREENSHOT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794760"/>
            <a:ext cx="5349240" cy="1874519"/>
          </a:xfrm>
          <a:prstGeom prst="rect">
            <a:avLst/>
          </a:prstGeom>
          <a:solidFill>
            <a:srgbClr val="FAFCFD"/>
          </a:solidFill>
          <a:ln w="19050">
            <a:solidFill>
              <a:srgbClr val="1F8F8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995928"/>
            <a:ext cx="507492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1F8F8B"/>
                </a:solidFill>
                <a:latin typeface="Aptos"/>
              </a:rPr>
              <a:t>SCREENSHOT 3 • ANALYTICS /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544568"/>
            <a:ext cx="4983479" cy="91439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707C8B"/>
                </a:solidFill>
                <a:latin typeface="Aptos"/>
              </a:rPr>
              <a:t>Show KPI cards, charts, filters or interactive analysis views.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40096"/>
            <a:ext cx="4983479" cy="20116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00" b="1">
                <a:solidFill>
                  <a:srgbClr val="EF9E52"/>
                </a:solidFill>
                <a:latin typeface="Aptos"/>
              </a:rPr>
              <a:t>REPLACE WITH ACTUAL PORTAL SCREENSHOT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794760"/>
            <a:ext cx="5349240" cy="1874519"/>
          </a:xfrm>
          <a:prstGeom prst="rect">
            <a:avLst/>
          </a:prstGeom>
          <a:solidFill>
            <a:srgbClr val="FAFCFD"/>
          </a:solidFill>
          <a:ln w="19050">
            <a:solidFill>
              <a:srgbClr val="1F8F8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3995928"/>
            <a:ext cx="507492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1F8F8B"/>
                </a:solidFill>
                <a:latin typeface="Aptos"/>
              </a:rPr>
              <a:t>SCREENSHOT 4 • MODEL / EXPORT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544568"/>
            <a:ext cx="4983479" cy="91439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707C8B"/>
                </a:solidFill>
                <a:latin typeface="Aptos"/>
              </a:rPr>
              <a:t>Show routing or evaluation results and the available export/download action.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340096"/>
            <a:ext cx="4983479" cy="20116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00" b="1">
                <a:solidFill>
                  <a:srgbClr val="EF9E52"/>
                </a:solidFill>
                <a:latin typeface="Aptos"/>
              </a:rPr>
              <a:t>REPLACE WITH ACTUAL PORTAL SCREENSHOT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897880"/>
            <a:ext cx="10881360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200" b="1">
                <a:solidFill>
                  <a:srgbClr val="1F8F8B"/>
                </a:solidFill>
                <a:latin typeface="Aptos"/>
              </a:rPr>
              <a:t>Demo sequence: Upload → Profile → Analyze → Evaluate → Export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4213A"/>
          </a:solidFill>
          <a:ln>
            <a:solidFill>
              <a:srgbClr val="14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9875520" cy="5029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Current Benchmark Evidence – Review II</a:t>
            </a:r>
          </a:p>
        </p:txBody>
      </p:sp>
      <p:sp>
        <p:nvSpPr>
          <p:cNvPr id="4" name="Oval 3"/>
          <p:cNvSpPr/>
          <p:nvPr/>
        </p:nvSpPr>
        <p:spPr>
          <a:xfrm>
            <a:off x="11173968" y="137160"/>
            <a:ext cx="585216" cy="585216"/>
          </a:xfrm>
          <a:prstGeom prst="ellipse">
            <a:avLst/>
          </a:prstGeom>
          <a:solidFill>
            <a:srgbClr val="1F918E"/>
          </a:solidFill>
          <a:ln>
            <a:solidFill>
              <a:srgbClr val="1F9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73968" y="164592"/>
            <a:ext cx="58521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111556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2B5E8F"/>
                </a:solidFill>
                <a:latin typeface="Arial"/>
              </a:rPr>
              <a:t>Previously reported results retained as the verified baseline for the next development 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111556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0" i="0">
                <a:solidFill>
                  <a:srgbClr val="6F7C8C"/>
                </a:solidFill>
                <a:latin typeface="Arial"/>
              </a:rPr>
              <a:t>Project Review – III  |  Batch 13  |  RetailIQ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3520440" cy="868680"/>
          </a:xfrm>
          <a:prstGeom prst="roundRect">
            <a:avLst>
              <a:gd name="adj" fmla="val 8000"/>
            </a:avLst>
          </a:prstGeom>
          <a:solidFill>
            <a:srgbClr val="14213A"/>
          </a:solidFill>
          <a:ln>
            <a:solidFill>
              <a:srgbClr val="14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536192"/>
            <a:ext cx="333756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1A458"/>
                </a:solidFill>
                <a:latin typeface="Arial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333756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Routing accuracy • 10/10 datasets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520440" cy="868680"/>
          </a:xfrm>
          <a:prstGeom prst="roundRect">
            <a:avLst>
              <a:gd name="adj" fmla="val 8000"/>
            </a:avLst>
          </a:prstGeom>
          <a:solidFill>
            <a:srgbClr val="14213A"/>
          </a:solidFill>
          <a:ln>
            <a:solidFill>
              <a:srgbClr val="14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1536192"/>
            <a:ext cx="333756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1A458"/>
                </a:solidFill>
                <a:latin typeface="Arial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920240"/>
            <a:ext cx="333756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Datasets benchmarked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417320"/>
            <a:ext cx="3520440" cy="868680"/>
          </a:xfrm>
          <a:prstGeom prst="roundRect">
            <a:avLst>
              <a:gd name="adj" fmla="val 8000"/>
            </a:avLst>
          </a:prstGeom>
          <a:solidFill>
            <a:srgbClr val="14213A"/>
          </a:solidFill>
          <a:ln>
            <a:solidFill>
              <a:srgbClr val="14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536192"/>
            <a:ext cx="333756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1A458"/>
                </a:solidFill>
                <a:latin typeface="Arial"/>
              </a:rPr>
              <a:t>5 ×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920240"/>
            <a:ext cx="333756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Repeated cross-validation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651760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F1F6FA"/>
          </a:solidFill>
          <a:ln>
            <a:solidFill>
              <a:srgbClr val="F1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2651760"/>
            <a:ext cx="82296" cy="1920240"/>
          </a:xfrm>
          <a:prstGeom prst="rect">
            <a:avLst/>
          </a:prstGeom>
          <a:solidFill>
            <a:srgbClr val="1F918E"/>
          </a:solidFill>
          <a:ln>
            <a:solidFill>
              <a:srgbClr val="1F9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2761488"/>
            <a:ext cx="320040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1F918E"/>
                </a:solidFill>
                <a:latin typeface="Arial"/>
              </a:rPr>
              <a:t>CLASSIFICATION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136391"/>
            <a:ext cx="3200400" cy="13533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233041"/>
                </a:solidFill>
                <a:latin typeface="Arial"/>
              </a:rPr>
              <a:t>Breast Cancer – Logistic Regression – Weighted F1 0.9778
Wine – Logistic Regression – 0.9843
Iris – Logistic Regression – 0.9532
Digits – Random Forest – 0.9759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651760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F1F6FA"/>
          </a:solidFill>
          <a:ln>
            <a:solidFill>
              <a:srgbClr val="F1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43400" y="2651760"/>
            <a:ext cx="82296" cy="1920240"/>
          </a:xfrm>
          <a:prstGeom prst="rect">
            <a:avLst/>
          </a:prstGeom>
          <a:solidFill>
            <a:srgbClr val="2B5E8F"/>
          </a:solidFill>
          <a:ln>
            <a:solidFill>
              <a:srgbClr val="2B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26280" y="2761488"/>
            <a:ext cx="320040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2B5E8F"/>
                </a:solidFill>
                <a:latin typeface="Arial"/>
              </a:rPr>
              <a:t>REGRESSION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136391"/>
            <a:ext cx="3200400" cy="13533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233041"/>
                </a:solidFill>
                <a:latin typeface="Arial"/>
              </a:rPr>
              <a:t>Diabetes – Linear Regression – RMSE 54.93
Retail Sales (Synthetic) – Linear Regression – RMSE 4656.44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2651760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F1F6FA"/>
          </a:solidFill>
          <a:ln>
            <a:solidFill>
              <a:srgbClr val="F1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92440" y="2651760"/>
            <a:ext cx="82296" cy="1920240"/>
          </a:xfrm>
          <a:prstGeom prst="rect">
            <a:avLst/>
          </a:prstGeom>
          <a:solidFill>
            <a:srgbClr val="1F918E"/>
          </a:solidFill>
          <a:ln>
            <a:solidFill>
              <a:srgbClr val="1F9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75319" y="2761488"/>
            <a:ext cx="320040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1F918E"/>
                </a:solidFill>
                <a:latin typeface="Arial"/>
              </a:rPr>
              <a:t>CLUSTERING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3136391"/>
            <a:ext cx="3200400" cy="13533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233041"/>
                </a:solidFill>
                <a:latin typeface="Arial"/>
              </a:rPr>
              <a:t>Iris – K=2 – Silhouette 0.5818
Wine – K=3 – 0.2849
Digits – K=2 – 0.1056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983480"/>
            <a:ext cx="1078992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1">
                <a:solidFill>
                  <a:srgbClr val="6F7C8C"/>
                </a:solidFill>
                <a:latin typeface="Arial"/>
              </a:rPr>
              <a:t>Review II also reports statistically significant Friedman-test results for all seven supervised datasets, followed by Holm-corrected Wilcoxon comparisons. These figures describe the earlier benchmark suite, not the new DAV extensions.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4213A"/>
          </a:solidFill>
          <a:ln>
            <a:solidFill>
              <a:srgbClr val="14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9875520" cy="5029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rial"/>
              </a:rPr>
              <a:t>Next Steps, Responsible AI &amp; Expected Deliverables</a:t>
            </a:r>
          </a:p>
        </p:txBody>
      </p:sp>
      <p:sp>
        <p:nvSpPr>
          <p:cNvPr id="4" name="Oval 3"/>
          <p:cNvSpPr/>
          <p:nvPr/>
        </p:nvSpPr>
        <p:spPr>
          <a:xfrm>
            <a:off x="11173968" y="137160"/>
            <a:ext cx="585216" cy="585216"/>
          </a:xfrm>
          <a:prstGeom prst="ellipse">
            <a:avLst/>
          </a:prstGeom>
          <a:solidFill>
            <a:srgbClr val="1F918E"/>
          </a:solidFill>
          <a:ln>
            <a:solidFill>
              <a:srgbClr val="1F9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73968" y="164592"/>
            <a:ext cx="58521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111556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2B5E8F"/>
                </a:solidFill>
                <a:latin typeface="Arial"/>
              </a:rPr>
              <a:t>Prioritized work to close the gap between the validated analytics baseline and the final DAV standard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111556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800" b="0" i="0">
                <a:solidFill>
                  <a:srgbClr val="6F7C8C"/>
                </a:solidFill>
                <a:latin typeface="Arial"/>
              </a:rPr>
              <a:t>Project Review – III  |  Batch 13  |  RetailIQ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566160" cy="1965960"/>
          </a:xfrm>
          <a:prstGeom prst="roundRect">
            <a:avLst>
              <a:gd name="adj" fmla="val 8000"/>
            </a:avLst>
          </a:prstGeom>
          <a:solidFill>
            <a:srgbClr val="F1F6FA"/>
          </a:solidFill>
          <a:ln>
            <a:solidFill>
              <a:srgbClr val="F1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82296" cy="1965960"/>
          </a:xfrm>
          <a:prstGeom prst="rect">
            <a:avLst/>
          </a:prstGeom>
          <a:solidFill>
            <a:srgbClr val="1F918E"/>
          </a:solidFill>
          <a:ln>
            <a:solidFill>
              <a:srgbClr val="1F9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664207"/>
            <a:ext cx="32461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1F918E"/>
                </a:solidFill>
                <a:latin typeface="Arial"/>
              </a:rPr>
              <a:t>MODEL DEPTH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39112"/>
            <a:ext cx="3246120" cy="13990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233041"/>
                </a:solidFill>
                <a:latin typeface="Arial"/>
              </a:rPr>
              <a:t>• Complete baseline vs existing vs proposed comparisons
• Justify any hybrid approach
• Report task-appropriate metrics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554480"/>
            <a:ext cx="3566160" cy="1965960"/>
          </a:xfrm>
          <a:prstGeom prst="roundRect">
            <a:avLst>
              <a:gd name="adj" fmla="val 8000"/>
            </a:avLst>
          </a:prstGeom>
          <a:solidFill>
            <a:srgbClr val="F1F6FA"/>
          </a:solidFill>
          <a:ln>
            <a:solidFill>
              <a:srgbClr val="F1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5968" y="1554480"/>
            <a:ext cx="82296" cy="1965960"/>
          </a:xfrm>
          <a:prstGeom prst="rect">
            <a:avLst/>
          </a:prstGeom>
          <a:solidFill>
            <a:srgbClr val="2B5E8F"/>
          </a:solidFill>
          <a:ln>
            <a:solidFill>
              <a:srgbClr val="2B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98848" y="1664207"/>
            <a:ext cx="32461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2B5E8F"/>
                </a:solidFill>
                <a:latin typeface="Arial"/>
              </a:rPr>
              <a:t>EXPLAIN + VISUALIZE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039112"/>
            <a:ext cx="3246120" cy="13990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233041"/>
                </a:solidFill>
                <a:latin typeface="Arial"/>
              </a:rPr>
              <a:t>• Add SHAP / LIME where supported
• Build multi-dimensional interactive plots
• Connect explanations to dashboard views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554480"/>
            <a:ext cx="3566160" cy="1965960"/>
          </a:xfrm>
          <a:prstGeom prst="roundRect">
            <a:avLst>
              <a:gd name="adj" fmla="val 8000"/>
            </a:avLst>
          </a:prstGeom>
          <a:solidFill>
            <a:srgbClr val="F1F6FA"/>
          </a:solidFill>
          <a:ln>
            <a:solidFill>
              <a:srgbClr val="F1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83296" y="1554480"/>
            <a:ext cx="82296" cy="1965960"/>
          </a:xfrm>
          <a:prstGeom prst="rect">
            <a:avLst/>
          </a:prstGeom>
          <a:solidFill>
            <a:srgbClr val="1F918E"/>
          </a:solidFill>
          <a:ln>
            <a:solidFill>
              <a:srgbClr val="1F9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66175" y="1664207"/>
            <a:ext cx="32461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1F918E"/>
                </a:solidFill>
                <a:latin typeface="Arial"/>
              </a:rPr>
              <a:t>DEPLOY + DOCUMENT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5" y="2039112"/>
            <a:ext cx="3246120" cy="13990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233041"/>
                </a:solidFill>
                <a:latin typeface="Arial"/>
              </a:rPr>
              <a:t>• Verify portal / deployment access
• Capture real demo evidence
• Document limitations and future work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977639"/>
            <a:ext cx="10972800" cy="1097280"/>
          </a:xfrm>
          <a:prstGeom prst="roundRect">
            <a:avLst>
              <a:gd name="adj" fmla="val 8000"/>
            </a:avLst>
          </a:prstGeom>
          <a:solidFill>
            <a:srgbClr val="14213A"/>
          </a:solidFill>
          <a:ln>
            <a:solidFill>
              <a:srgbClr val="14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4133087"/>
            <a:ext cx="1051560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Responsible analytics checkpoints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480560"/>
            <a:ext cx="1051560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Bias and fairness • privacy • transparency • reproducibility • clear limitations • human review of recommendations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440680"/>
            <a:ext cx="108813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0" i="1">
                <a:solidFill>
                  <a:srgbClr val="6F7C8C"/>
                </a:solidFill>
                <a:latin typeface="Arial"/>
              </a:rPr>
              <a:t>Final deliverable target: real dataset + preprocessing + EDA + ML / hybrid comparison + SHAP/LIME + advanced visualization + interactive dashboard + data story + actionable recommendations.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006840" y="0"/>
            <a:ext cx="3182112" cy="1874519"/>
          </a:xfrm>
          <a:prstGeom prst="rect">
            <a:avLst/>
          </a:prstGeom>
          <a:solidFill>
            <a:srgbClr val="1F918E"/>
          </a:solidFill>
          <a:ln>
            <a:solidFill>
              <a:srgbClr val="1F91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744200" y="4617720"/>
            <a:ext cx="1444752" cy="2240280"/>
          </a:xfrm>
          <a:prstGeom prst="rect">
            <a:avLst/>
          </a:prstGeom>
          <a:solidFill>
            <a:srgbClr val="F1A458"/>
          </a:solidFill>
          <a:ln>
            <a:solidFill>
              <a:srgbClr val="F1A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0"/>
            <a:ext cx="10835640" cy="1371600"/>
          </a:xfrm>
          <a:prstGeom prst="rect">
            <a:avLst/>
          </a:prstGeom>
          <a:solidFill>
            <a:srgbClr val="2B5E8F"/>
          </a:solidFill>
          <a:ln>
            <a:solidFill>
              <a:srgbClr val="2B5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987552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80360"/>
            <a:ext cx="987552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D2DCE8"/>
                </a:solidFill>
                <a:latin typeface="Arial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86200"/>
            <a:ext cx="987552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1A458"/>
                </a:solidFill>
                <a:latin typeface="Arial"/>
              </a:rPr>
              <a:t>Batch 13  •  Department of Computer Science and Engineering (AI &amp; ML)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15968"/>
            <a:ext cx="98755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1A458"/>
                </a:solidFill>
                <a:latin typeface="Arial"/>
              </a:rPr>
              <a:t>Faculty Guide: K. Swapnika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13A"/>
          </a:solidFill>
          <a:ln w="13970">
            <a:solidFill>
              <a:srgbClr val="14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91440"/>
            <a:ext cx="103327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Methodology Validation &amp; Code Implementation</a:t>
            </a:r>
          </a:p>
        </p:txBody>
      </p:sp>
      <p:sp>
        <p:nvSpPr>
          <p:cNvPr id="4" name="Oval 3"/>
          <p:cNvSpPr/>
          <p:nvPr/>
        </p:nvSpPr>
        <p:spPr>
          <a:xfrm>
            <a:off x="11201400" y="118872"/>
            <a:ext cx="530352" cy="530352"/>
          </a:xfrm>
          <a:prstGeom prst="ellipse">
            <a:avLst/>
          </a:prstGeom>
          <a:solidFill>
            <a:srgbClr val="1F8F8B"/>
          </a:solidFill>
          <a:ln>
            <a:solidFill>
              <a:srgbClr val="1F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128016"/>
            <a:ext cx="530352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537960"/>
            <a:ext cx="7315200" cy="1828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900" b="0">
                <a:solidFill>
                  <a:srgbClr val="707C8B"/>
                </a:solidFill>
                <a:latin typeface="Aptos"/>
              </a:rPr>
              <a:t>Project Review – III  |  Batch 13  |  RetailIQ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1115568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00" b="0">
                <a:solidFill>
                  <a:srgbClr val="707C8B"/>
                </a:solidFill>
                <a:latin typeface="Aptos"/>
              </a:rPr>
              <a:t>Show evidence that each pipeline stage runs as intended; replace the panels with real outputs.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36192"/>
            <a:ext cx="1719072" cy="804672"/>
          </a:xfrm>
          <a:prstGeom prst="roundRect">
            <a:avLst>
              <a:gd name="adj" fmla="val 7000"/>
            </a:avLst>
          </a:prstGeom>
          <a:solidFill>
            <a:srgbClr val="EBF5F6"/>
          </a:solidFill>
          <a:ln w="13970"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7784" y="1627632"/>
            <a:ext cx="1609344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50" b="1">
                <a:solidFill>
                  <a:srgbClr val="1F8F8B"/>
                </a:solidFill>
                <a:latin typeface="Aptos"/>
              </a:rPr>
              <a:t>1  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920240"/>
            <a:ext cx="1572768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40" b="0">
                <a:solidFill>
                  <a:srgbClr val="263141"/>
                </a:solidFill>
                <a:latin typeface="Aptos"/>
              </a:rPr>
              <a:t>CSV / XLSX / XLS upload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40280" y="1938528"/>
            <a:ext cx="164592" cy="0"/>
          </a:xfrm>
          <a:prstGeom prst="line">
            <a:avLst/>
          </a:prstGeom>
          <a:ln w="17780">
            <a:solidFill>
              <a:srgbClr val="1F8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41448" y="1536192"/>
            <a:ext cx="1719072" cy="804672"/>
          </a:xfrm>
          <a:prstGeom prst="roundRect">
            <a:avLst>
              <a:gd name="adj" fmla="val 7000"/>
            </a:avLst>
          </a:prstGeom>
          <a:solidFill>
            <a:srgbClr val="F0F5F9"/>
          </a:solidFill>
          <a:ln w="13970"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96312" y="1627632"/>
            <a:ext cx="1609344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50" b="1">
                <a:solidFill>
                  <a:srgbClr val="2F5E8F"/>
                </a:solidFill>
                <a:latin typeface="Aptos"/>
              </a:rPr>
              <a:t>2  PROFILING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920240"/>
            <a:ext cx="1572768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40" b="0">
                <a:solidFill>
                  <a:srgbClr val="263141"/>
                </a:solidFill>
                <a:latin typeface="Aptos"/>
              </a:rPr>
              <a:t>Schema, types, missingness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78808" y="1938528"/>
            <a:ext cx="164592" cy="0"/>
          </a:xfrm>
          <a:prstGeom prst="line">
            <a:avLst/>
          </a:prstGeom>
          <a:ln w="17780">
            <a:solidFill>
              <a:srgbClr val="1F8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379976" y="1536192"/>
            <a:ext cx="1719072" cy="804672"/>
          </a:xfrm>
          <a:prstGeom prst="roundRect">
            <a:avLst>
              <a:gd name="adj" fmla="val 7000"/>
            </a:avLst>
          </a:prstGeom>
          <a:solidFill>
            <a:srgbClr val="EBF5F6"/>
          </a:solidFill>
          <a:ln w="13970"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0" y="1627632"/>
            <a:ext cx="1609344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50" b="1">
                <a:solidFill>
                  <a:srgbClr val="1F8F8B"/>
                </a:solidFill>
                <a:latin typeface="Aptos"/>
              </a:rPr>
              <a:t>3  CLEANING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1920240"/>
            <a:ext cx="1572768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40" b="0">
                <a:solidFill>
                  <a:srgbClr val="263141"/>
                </a:solidFill>
                <a:latin typeface="Aptos"/>
              </a:rPr>
              <a:t>Logged quality operations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17336" y="1938528"/>
            <a:ext cx="164592" cy="0"/>
          </a:xfrm>
          <a:prstGeom prst="line">
            <a:avLst/>
          </a:prstGeom>
          <a:ln w="17780">
            <a:solidFill>
              <a:srgbClr val="1F8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318504" y="1536192"/>
            <a:ext cx="1719072" cy="804672"/>
          </a:xfrm>
          <a:prstGeom prst="roundRect">
            <a:avLst>
              <a:gd name="adj" fmla="val 7000"/>
            </a:avLst>
          </a:prstGeom>
          <a:solidFill>
            <a:srgbClr val="F0F5F9"/>
          </a:solidFill>
          <a:ln w="13970"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3368" y="1627632"/>
            <a:ext cx="1609344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50" b="1">
                <a:solidFill>
                  <a:srgbClr val="2F5E8F"/>
                </a:solidFill>
                <a:latin typeface="Aptos"/>
              </a:rPr>
              <a:t>4  ROUTING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1920240"/>
            <a:ext cx="1572768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40" b="0">
                <a:solidFill>
                  <a:srgbClr val="263141"/>
                </a:solidFill>
                <a:latin typeface="Aptos"/>
              </a:rPr>
              <a:t>Classification / regression / unsupervised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055864" y="1938528"/>
            <a:ext cx="164592" cy="0"/>
          </a:xfrm>
          <a:prstGeom prst="line">
            <a:avLst/>
          </a:prstGeom>
          <a:ln w="17780">
            <a:solidFill>
              <a:srgbClr val="1F8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257032" y="1536192"/>
            <a:ext cx="1719072" cy="804672"/>
          </a:xfrm>
          <a:prstGeom prst="roundRect">
            <a:avLst>
              <a:gd name="adj" fmla="val 7000"/>
            </a:avLst>
          </a:prstGeom>
          <a:solidFill>
            <a:srgbClr val="EBF5F6"/>
          </a:solidFill>
          <a:ln w="13970"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11896" y="1627632"/>
            <a:ext cx="1609344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50" b="1">
                <a:solidFill>
                  <a:srgbClr val="1F8F8B"/>
                </a:solidFill>
                <a:latin typeface="Aptos"/>
              </a:rPr>
              <a:t>5 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184" y="1920240"/>
            <a:ext cx="1572768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40" b="0">
                <a:solidFill>
                  <a:srgbClr val="263141"/>
                </a:solidFill>
                <a:latin typeface="Aptos"/>
              </a:rPr>
              <a:t>KPIs, charts and statistics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994392" y="1938528"/>
            <a:ext cx="164592" cy="0"/>
          </a:xfrm>
          <a:prstGeom prst="line">
            <a:avLst/>
          </a:prstGeom>
          <a:ln w="17780">
            <a:solidFill>
              <a:srgbClr val="1F8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195560" y="1536192"/>
            <a:ext cx="1719072" cy="804672"/>
          </a:xfrm>
          <a:prstGeom prst="roundRect">
            <a:avLst>
              <a:gd name="adj" fmla="val 7000"/>
            </a:avLst>
          </a:prstGeom>
          <a:solidFill>
            <a:srgbClr val="F0F5F9"/>
          </a:solidFill>
          <a:ln w="13970"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250424" y="1627632"/>
            <a:ext cx="1609344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50" b="1">
                <a:solidFill>
                  <a:srgbClr val="2F5E8F"/>
                </a:solidFill>
                <a:latin typeface="Aptos"/>
              </a:rPr>
              <a:t>6  EXPORT / 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68712" y="1920240"/>
            <a:ext cx="1572768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40" b="0">
                <a:solidFill>
                  <a:srgbClr val="263141"/>
                </a:solidFill>
                <a:latin typeface="Aptos"/>
              </a:rPr>
              <a:t>Recommendations, export and baselines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2697480"/>
            <a:ext cx="5257800" cy="1234440"/>
          </a:xfrm>
          <a:prstGeom prst="roundRect">
            <a:avLst>
              <a:gd name="adj" fmla="val 7000"/>
            </a:avLst>
          </a:prstGeom>
          <a:solidFill>
            <a:srgbClr val="EBF5F6"/>
          </a:solidFill>
          <a:ln w="13970">
            <a:solidFill>
              <a:srgbClr val="EB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0664" y="2788920"/>
            <a:ext cx="4965192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1">
                <a:solidFill>
                  <a:srgbClr val="1F8F8B"/>
                </a:solidFill>
                <a:latin typeface="Aptos"/>
              </a:rPr>
              <a:t>VALIDATION CHECKLIST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" y="3145536"/>
            <a:ext cx="4965192" cy="704088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050" b="0">
                <a:solidFill>
                  <a:srgbClr val="263141"/>
                </a:solidFill>
                <a:latin typeface="Aptos"/>
              </a:rPr>
              <a:t>□ Input formats tested
□ Missing values / duplicates checked
□ Routing decisions reviewed
□ Outputs and exports verified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2697480"/>
            <a:ext cx="5349240" cy="1234440"/>
          </a:xfrm>
          <a:prstGeom prst="roundRect">
            <a:avLst>
              <a:gd name="adj" fmla="val 7000"/>
            </a:avLst>
          </a:prstGeom>
          <a:solidFill>
            <a:srgbClr val="F0F5F9"/>
          </a:solidFill>
          <a:ln w="13970">
            <a:solidFill>
              <a:srgbClr val="F0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64224" y="2788920"/>
            <a:ext cx="5056631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1">
                <a:solidFill>
                  <a:srgbClr val="2F5E8F"/>
                </a:solidFill>
                <a:latin typeface="Aptos"/>
              </a:rPr>
              <a:t>IMPLEMENTATION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4224" y="3145536"/>
            <a:ext cx="5056631" cy="704088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050" b="0">
                <a:solidFill>
                  <a:srgbClr val="263141"/>
                </a:solidFill>
                <a:latin typeface="Aptos"/>
              </a:rPr>
              <a:t>□ Module execution confirmed
□ Error handling checked
□ Reproducible run documented
□ Code version committed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4251960"/>
            <a:ext cx="5257800" cy="1600200"/>
          </a:xfrm>
          <a:prstGeom prst="rect">
            <a:avLst/>
          </a:prstGeom>
          <a:solidFill>
            <a:srgbClr val="FBFDFE"/>
          </a:solidFill>
          <a:ln w="13970">
            <a:solidFill>
              <a:srgbClr val="1F8F8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04088" y="4343400"/>
            <a:ext cx="5038344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8F8B"/>
                </a:solidFill>
                <a:latin typeface="Aptos"/>
              </a:rPr>
              <a:t>CODE / TERMINAL SCREENSHOT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" y="4690872"/>
            <a:ext cx="4965192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0">
                <a:solidFill>
                  <a:srgbClr val="707C8B"/>
                </a:solidFill>
                <a:latin typeface="Aptos"/>
              </a:rPr>
              <a:t>Insert a screenshot showing the application running or key modules executing.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" y="5596128"/>
            <a:ext cx="5038344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CD7E37"/>
                </a:solidFill>
                <a:latin typeface="Aptos"/>
              </a:rPr>
              <a:t>INSERT VERIFIED EVIDENCE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4251960"/>
            <a:ext cx="5349240" cy="1600200"/>
          </a:xfrm>
          <a:prstGeom prst="rect">
            <a:avLst/>
          </a:prstGeom>
          <a:solidFill>
            <a:srgbClr val="FBFDFE"/>
          </a:solidFill>
          <a:ln w="13970">
            <a:solidFill>
              <a:srgbClr val="1F8F8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27648" y="4343400"/>
            <a:ext cx="5129783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8F8B"/>
                </a:solidFill>
                <a:latin typeface="Aptos"/>
              </a:rPr>
              <a:t>VALIDATION OUTPUT SCREENSHOT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64224" y="4690872"/>
            <a:ext cx="5056631" cy="8503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0">
                <a:solidFill>
                  <a:srgbClr val="707C8B"/>
                </a:solidFill>
                <a:latin typeface="Aptos"/>
              </a:rPr>
              <a:t>Insert test output, validation logs or a successful end-to-end run.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27648" y="5596128"/>
            <a:ext cx="5129783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CD7E37"/>
                </a:solidFill>
                <a:latin typeface="Aptos"/>
              </a:rPr>
              <a:t>INSERT VERIFIED EVIDENCE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6016752"/>
            <a:ext cx="1078992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00" b="1">
                <a:solidFill>
                  <a:srgbClr val="CD7E37"/>
                </a:solidFill>
                <a:latin typeface="Aptos"/>
              </a:rPr>
              <a:t>Status labels and checkboxes should be updated to match the work actually completed.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13A"/>
          </a:solidFill>
          <a:ln w="13970">
            <a:solidFill>
              <a:srgbClr val="14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91440"/>
            <a:ext cx="103327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Comparative Analysis – Baseline, Literature &amp; Proposed Hybrid</a:t>
            </a:r>
          </a:p>
        </p:txBody>
      </p:sp>
      <p:sp>
        <p:nvSpPr>
          <p:cNvPr id="4" name="Oval 3"/>
          <p:cNvSpPr/>
          <p:nvPr/>
        </p:nvSpPr>
        <p:spPr>
          <a:xfrm>
            <a:off x="11201400" y="118872"/>
            <a:ext cx="530352" cy="530352"/>
          </a:xfrm>
          <a:prstGeom prst="ellipse">
            <a:avLst/>
          </a:prstGeom>
          <a:solidFill>
            <a:srgbClr val="1F8F8B"/>
          </a:solidFill>
          <a:ln>
            <a:solidFill>
              <a:srgbClr val="1F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128016"/>
            <a:ext cx="530352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537960"/>
            <a:ext cx="7315200" cy="1828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900" b="0">
                <a:solidFill>
                  <a:srgbClr val="707C8B"/>
                </a:solidFill>
                <a:latin typeface="Aptos"/>
              </a:rPr>
              <a:t>Project Review – III  |  Batch 13  |  RetailIQ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1115568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00" b="0">
                <a:solidFill>
                  <a:srgbClr val="707C8B"/>
                </a:solidFill>
                <a:latin typeface="Aptos"/>
              </a:rPr>
              <a:t>Populate with measured results from the same dataset split and evaluation protocol.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572768"/>
            <a:ext cx="2057400" cy="502920"/>
          </a:xfrm>
          <a:prstGeom prst="rect">
            <a:avLst/>
          </a:prstGeom>
          <a:solidFill>
            <a:srgbClr val="14213A"/>
          </a:solidFill>
          <a:ln w="13970">
            <a:solidFill>
              <a:srgbClr val="14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" y="1627632"/>
            <a:ext cx="1984248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MODEL GROUP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572768"/>
            <a:ext cx="1737360" cy="502920"/>
          </a:xfrm>
          <a:prstGeom prst="rect">
            <a:avLst/>
          </a:prstGeom>
          <a:solidFill>
            <a:srgbClr val="14213A"/>
          </a:solidFill>
          <a:ln w="13970">
            <a:solidFill>
              <a:srgbClr val="14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79776" y="1627632"/>
            <a:ext cx="1664207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MODEL / METHOD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572768"/>
            <a:ext cx="1737360" cy="502920"/>
          </a:xfrm>
          <a:prstGeom prst="rect">
            <a:avLst/>
          </a:prstGeom>
          <a:solidFill>
            <a:srgbClr val="14213A"/>
          </a:solidFill>
          <a:ln w="13970">
            <a:solidFill>
              <a:srgbClr val="14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08576" y="1627632"/>
            <a:ext cx="1664207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ACCURACY*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572768"/>
            <a:ext cx="1737360" cy="502920"/>
          </a:xfrm>
          <a:prstGeom prst="rect">
            <a:avLst/>
          </a:prstGeom>
          <a:solidFill>
            <a:srgbClr val="14213A"/>
          </a:solidFill>
          <a:ln w="13970">
            <a:solidFill>
              <a:srgbClr val="14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37376" y="1627632"/>
            <a:ext cx="1664207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PRECISION*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572768"/>
            <a:ext cx="1737360" cy="502920"/>
          </a:xfrm>
          <a:prstGeom prst="rect">
            <a:avLst/>
          </a:prstGeom>
          <a:solidFill>
            <a:srgbClr val="14213A"/>
          </a:solidFill>
          <a:ln w="13970">
            <a:solidFill>
              <a:srgbClr val="14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66175" y="1627632"/>
            <a:ext cx="1664207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RECALL*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0" y="1572768"/>
            <a:ext cx="1554480" cy="502920"/>
          </a:xfrm>
          <a:prstGeom prst="rect">
            <a:avLst/>
          </a:prstGeom>
          <a:solidFill>
            <a:srgbClr val="14213A"/>
          </a:solidFill>
          <a:ln w="13970">
            <a:solidFill>
              <a:srgbClr val="14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94976" y="1627632"/>
            <a:ext cx="1481328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F1 / SCORE*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103120"/>
            <a:ext cx="2057400" cy="512064"/>
          </a:xfrm>
          <a:prstGeom prst="rect">
            <a:avLst/>
          </a:prstGeom>
          <a:solidFill>
            <a:srgbClr val="EBF5F6"/>
          </a:solidFill>
          <a:ln w="13970"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2157984"/>
            <a:ext cx="1965960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919" b="1">
                <a:solidFill>
                  <a:srgbClr val="1F8F8B"/>
                </a:solidFill>
                <a:latin typeface="Aptos"/>
              </a:rPr>
              <a:t>Baseline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2103120"/>
            <a:ext cx="1737360" cy="512064"/>
          </a:xfrm>
          <a:prstGeom prst="rect">
            <a:avLst/>
          </a:prstGeom>
          <a:solidFill>
            <a:srgbClr val="EBF5F6"/>
          </a:solidFill>
          <a:ln w="13970"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88920" y="2157984"/>
            <a:ext cx="1645919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919" b="0">
                <a:solidFill>
                  <a:srgbClr val="263141"/>
                </a:solidFill>
                <a:latin typeface="Aptos"/>
              </a:rPr>
              <a:t>Logistic Regression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2103120"/>
            <a:ext cx="1737360" cy="512064"/>
          </a:xfrm>
          <a:prstGeom prst="rect">
            <a:avLst/>
          </a:prstGeom>
          <a:solidFill>
            <a:srgbClr val="EBF5F6"/>
          </a:solidFill>
          <a:ln w="13970"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17720" y="2157984"/>
            <a:ext cx="1645919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19" b="0">
                <a:solidFill>
                  <a:srgbClr val="263141"/>
                </a:solidFill>
                <a:latin typeface="Aptos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103120"/>
            <a:ext cx="1737360" cy="512064"/>
          </a:xfrm>
          <a:prstGeom prst="rect">
            <a:avLst/>
          </a:prstGeom>
          <a:solidFill>
            <a:srgbClr val="EBF5F6"/>
          </a:solidFill>
          <a:ln w="13970"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2157984"/>
            <a:ext cx="1645919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19" b="0">
                <a:solidFill>
                  <a:srgbClr val="263141"/>
                </a:solidFill>
                <a:latin typeface="Aptos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2103120"/>
            <a:ext cx="1737360" cy="512064"/>
          </a:xfrm>
          <a:prstGeom prst="rect">
            <a:avLst/>
          </a:prstGeom>
          <a:solidFill>
            <a:srgbClr val="EBF5F6"/>
          </a:solidFill>
          <a:ln w="13970"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75320" y="2157984"/>
            <a:ext cx="1645919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19" b="0">
                <a:solidFill>
                  <a:srgbClr val="263141"/>
                </a:solidFill>
                <a:latin typeface="Aptos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0" y="2103120"/>
            <a:ext cx="1554480" cy="512064"/>
          </a:xfrm>
          <a:prstGeom prst="rect">
            <a:avLst/>
          </a:prstGeom>
          <a:solidFill>
            <a:srgbClr val="EBF5F6"/>
          </a:solidFill>
          <a:ln w="13970"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104120" y="2157984"/>
            <a:ext cx="1463039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19" b="0">
                <a:solidFill>
                  <a:srgbClr val="263141"/>
                </a:solidFill>
                <a:latin typeface="Aptos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2688336"/>
            <a:ext cx="2057400" cy="512064"/>
          </a:xfrm>
          <a:prstGeom prst="rect">
            <a:avLst/>
          </a:prstGeom>
          <a:solidFill>
            <a:srgbClr val="F0F5F9"/>
          </a:solidFill>
          <a:ln w="13970"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2743200"/>
            <a:ext cx="1965960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919" b="1">
                <a:solidFill>
                  <a:srgbClr val="1F8F8B"/>
                </a:solidFill>
                <a:latin typeface="Aptos"/>
              </a:rPr>
              <a:t>Baseline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0" y="2688336"/>
            <a:ext cx="1737360" cy="512064"/>
          </a:xfrm>
          <a:prstGeom prst="rect">
            <a:avLst/>
          </a:prstGeom>
          <a:solidFill>
            <a:srgbClr val="F0F5F9"/>
          </a:solidFill>
          <a:ln w="13970"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88920" y="2743200"/>
            <a:ext cx="1645919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919" b="0">
                <a:solidFill>
                  <a:srgbClr val="263141"/>
                </a:solidFill>
                <a:latin typeface="Aptos"/>
              </a:rPr>
              <a:t>Decision Tree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2688336"/>
            <a:ext cx="1737360" cy="512064"/>
          </a:xfrm>
          <a:prstGeom prst="rect">
            <a:avLst/>
          </a:prstGeom>
          <a:solidFill>
            <a:srgbClr val="F0F5F9"/>
          </a:solidFill>
          <a:ln w="13970"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17720" y="2743200"/>
            <a:ext cx="1645919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19" b="0">
                <a:solidFill>
                  <a:srgbClr val="263141"/>
                </a:solidFill>
                <a:latin typeface="Aptos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688336"/>
            <a:ext cx="1737360" cy="512064"/>
          </a:xfrm>
          <a:prstGeom prst="rect">
            <a:avLst/>
          </a:prstGeom>
          <a:solidFill>
            <a:srgbClr val="F0F5F9"/>
          </a:solidFill>
          <a:ln w="13970"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46520" y="2743200"/>
            <a:ext cx="1645919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19" b="0">
                <a:solidFill>
                  <a:srgbClr val="263141"/>
                </a:solidFill>
                <a:latin typeface="Aptos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2688336"/>
            <a:ext cx="1737360" cy="512064"/>
          </a:xfrm>
          <a:prstGeom prst="rect">
            <a:avLst/>
          </a:prstGeom>
          <a:solidFill>
            <a:srgbClr val="F0F5F9"/>
          </a:solidFill>
          <a:ln w="13970"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75320" y="2743200"/>
            <a:ext cx="1645919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19" b="0">
                <a:solidFill>
                  <a:srgbClr val="263141"/>
                </a:solidFill>
                <a:latin typeface="Aptos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58400" y="2688336"/>
            <a:ext cx="1554480" cy="512064"/>
          </a:xfrm>
          <a:prstGeom prst="rect">
            <a:avLst/>
          </a:prstGeom>
          <a:solidFill>
            <a:srgbClr val="F0F5F9"/>
          </a:solidFill>
          <a:ln w="13970"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104120" y="2743200"/>
            <a:ext cx="1463039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19" b="0">
                <a:solidFill>
                  <a:srgbClr val="263141"/>
                </a:solidFill>
                <a:latin typeface="Aptos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3273552"/>
            <a:ext cx="2057400" cy="512064"/>
          </a:xfrm>
          <a:prstGeom prst="rect">
            <a:avLst/>
          </a:prstGeom>
          <a:solidFill>
            <a:srgbClr val="EBF5F6"/>
          </a:solidFill>
          <a:ln w="13970"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3328416"/>
            <a:ext cx="1965960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919" b="1">
                <a:solidFill>
                  <a:srgbClr val="1F8F8B"/>
                </a:solidFill>
                <a:latin typeface="Aptos"/>
              </a:rPr>
              <a:t>Literature model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0" y="3273552"/>
            <a:ext cx="1737360" cy="512064"/>
          </a:xfrm>
          <a:prstGeom prst="rect">
            <a:avLst/>
          </a:prstGeom>
          <a:solidFill>
            <a:srgbClr val="EBF5F6"/>
          </a:solidFill>
          <a:ln w="13970"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788920" y="3328416"/>
            <a:ext cx="1645919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919" b="0">
                <a:solidFill>
                  <a:srgbClr val="263141"/>
                </a:solidFill>
                <a:latin typeface="Aptos"/>
              </a:rPr>
              <a:t>[Add cited method 1]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0" y="3273552"/>
            <a:ext cx="1737360" cy="512064"/>
          </a:xfrm>
          <a:prstGeom prst="rect">
            <a:avLst/>
          </a:prstGeom>
          <a:solidFill>
            <a:srgbClr val="EBF5F6"/>
          </a:solidFill>
          <a:ln w="13970"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617720" y="3328416"/>
            <a:ext cx="1645919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19" b="0">
                <a:solidFill>
                  <a:srgbClr val="263141"/>
                </a:solidFill>
                <a:latin typeface="Aptos"/>
              </a:rP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3273552"/>
            <a:ext cx="1737360" cy="512064"/>
          </a:xfrm>
          <a:prstGeom prst="rect">
            <a:avLst/>
          </a:prstGeom>
          <a:solidFill>
            <a:srgbClr val="EBF5F6"/>
          </a:solidFill>
          <a:ln w="13970"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46520" y="3328416"/>
            <a:ext cx="1645919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19" b="0">
                <a:solidFill>
                  <a:srgbClr val="263141"/>
                </a:solidFill>
                <a:latin typeface="Aptos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3273552"/>
            <a:ext cx="1737360" cy="512064"/>
          </a:xfrm>
          <a:prstGeom prst="rect">
            <a:avLst/>
          </a:prstGeom>
          <a:solidFill>
            <a:srgbClr val="EBF5F6"/>
          </a:solidFill>
          <a:ln w="13970"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275320" y="3328416"/>
            <a:ext cx="1645919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19" b="0">
                <a:solidFill>
                  <a:srgbClr val="263141"/>
                </a:solidFill>
                <a:latin typeface="Aptos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58400" y="3273552"/>
            <a:ext cx="1554480" cy="512064"/>
          </a:xfrm>
          <a:prstGeom prst="rect">
            <a:avLst/>
          </a:prstGeom>
          <a:solidFill>
            <a:srgbClr val="EBF5F6"/>
          </a:solidFill>
          <a:ln w="13970"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104120" y="3328416"/>
            <a:ext cx="1463039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19" b="0">
                <a:solidFill>
                  <a:srgbClr val="263141"/>
                </a:solidFill>
                <a:latin typeface="Aptos"/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3858768"/>
            <a:ext cx="2057400" cy="512064"/>
          </a:xfrm>
          <a:prstGeom prst="rect">
            <a:avLst/>
          </a:prstGeom>
          <a:solidFill>
            <a:srgbClr val="F0F5F9"/>
          </a:solidFill>
          <a:ln w="13970"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0080" y="3913631"/>
            <a:ext cx="1965960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919" b="1">
                <a:solidFill>
                  <a:srgbClr val="1F8F8B"/>
                </a:solidFill>
                <a:latin typeface="Aptos"/>
              </a:rPr>
              <a:t>Literature model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0" y="3858768"/>
            <a:ext cx="1737360" cy="512064"/>
          </a:xfrm>
          <a:prstGeom prst="rect">
            <a:avLst/>
          </a:prstGeom>
          <a:solidFill>
            <a:srgbClr val="F0F5F9"/>
          </a:solidFill>
          <a:ln w="13970"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788920" y="3913631"/>
            <a:ext cx="1645919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919" b="0">
                <a:solidFill>
                  <a:srgbClr val="263141"/>
                </a:solidFill>
                <a:latin typeface="Aptos"/>
              </a:rPr>
              <a:t>[Add cited method 2]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0" y="3858768"/>
            <a:ext cx="1737360" cy="512064"/>
          </a:xfrm>
          <a:prstGeom prst="rect">
            <a:avLst/>
          </a:prstGeom>
          <a:solidFill>
            <a:srgbClr val="F0F5F9"/>
          </a:solidFill>
          <a:ln w="13970"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617720" y="3913631"/>
            <a:ext cx="1645919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19" b="0">
                <a:solidFill>
                  <a:srgbClr val="263141"/>
                </a:solidFill>
                <a:latin typeface="Aptos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3858768"/>
            <a:ext cx="1737360" cy="512064"/>
          </a:xfrm>
          <a:prstGeom prst="rect">
            <a:avLst/>
          </a:prstGeom>
          <a:solidFill>
            <a:srgbClr val="F0F5F9"/>
          </a:solidFill>
          <a:ln w="13970"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446520" y="3913631"/>
            <a:ext cx="1645919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19" b="0">
                <a:solidFill>
                  <a:srgbClr val="263141"/>
                </a:solidFill>
                <a:latin typeface="Aptos"/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29600" y="3858768"/>
            <a:ext cx="1737360" cy="512064"/>
          </a:xfrm>
          <a:prstGeom prst="rect">
            <a:avLst/>
          </a:prstGeom>
          <a:solidFill>
            <a:srgbClr val="F0F5F9"/>
          </a:solidFill>
          <a:ln w="13970"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275320" y="3913631"/>
            <a:ext cx="1645919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19" b="0">
                <a:solidFill>
                  <a:srgbClr val="263141"/>
                </a:solidFill>
                <a:latin typeface="Aptos"/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058400" y="3858768"/>
            <a:ext cx="1554480" cy="512064"/>
          </a:xfrm>
          <a:prstGeom prst="rect">
            <a:avLst/>
          </a:prstGeom>
          <a:solidFill>
            <a:srgbClr val="F0F5F9"/>
          </a:solidFill>
          <a:ln w="13970"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104120" y="3913631"/>
            <a:ext cx="1463039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19" b="0">
                <a:solidFill>
                  <a:srgbClr val="263141"/>
                </a:solidFill>
                <a:latin typeface="Aptos"/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94360" y="4443983"/>
            <a:ext cx="2057400" cy="512064"/>
          </a:xfrm>
          <a:prstGeom prst="rect">
            <a:avLst/>
          </a:prstGeom>
          <a:solidFill>
            <a:srgbClr val="EBF5F6"/>
          </a:solidFill>
          <a:ln w="13970"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40080" y="4498847"/>
            <a:ext cx="1965960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919" b="1">
                <a:solidFill>
                  <a:srgbClr val="1F8F8B"/>
                </a:solidFill>
                <a:latin typeface="Aptos"/>
              </a:rPr>
              <a:t>Proposed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0" y="4443983"/>
            <a:ext cx="1737360" cy="512064"/>
          </a:xfrm>
          <a:prstGeom prst="rect">
            <a:avLst/>
          </a:prstGeom>
          <a:solidFill>
            <a:srgbClr val="EBF5F6"/>
          </a:solidFill>
          <a:ln w="13970"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788920" y="4498847"/>
            <a:ext cx="1645919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919" b="0">
                <a:solidFill>
                  <a:srgbClr val="263141"/>
                </a:solidFill>
                <a:latin typeface="Aptos"/>
              </a:rPr>
              <a:t>RetailIQ hybrid model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0" y="4443983"/>
            <a:ext cx="1737360" cy="512064"/>
          </a:xfrm>
          <a:prstGeom prst="rect">
            <a:avLst/>
          </a:prstGeom>
          <a:solidFill>
            <a:srgbClr val="EBF5F6"/>
          </a:solidFill>
          <a:ln w="13970"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617720" y="4498847"/>
            <a:ext cx="1645919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19" b="0">
                <a:solidFill>
                  <a:srgbClr val="263141"/>
                </a:solidFill>
                <a:latin typeface="Aptos"/>
              </a:rP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00800" y="4443983"/>
            <a:ext cx="1737360" cy="512064"/>
          </a:xfrm>
          <a:prstGeom prst="rect">
            <a:avLst/>
          </a:prstGeom>
          <a:solidFill>
            <a:srgbClr val="EBF5F6"/>
          </a:solidFill>
          <a:ln w="13970"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446520" y="4498847"/>
            <a:ext cx="1645919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19" b="0">
                <a:solidFill>
                  <a:srgbClr val="263141"/>
                </a:solidFill>
                <a:latin typeface="Aptos"/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229600" y="4443983"/>
            <a:ext cx="1737360" cy="512064"/>
          </a:xfrm>
          <a:prstGeom prst="rect">
            <a:avLst/>
          </a:prstGeom>
          <a:solidFill>
            <a:srgbClr val="EBF5F6"/>
          </a:solidFill>
          <a:ln w="13970"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275320" y="4498847"/>
            <a:ext cx="1645919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19" b="0">
                <a:solidFill>
                  <a:srgbClr val="263141"/>
                </a:solidFill>
                <a:latin typeface="Aptos"/>
              </a:rP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058400" y="4443983"/>
            <a:ext cx="1554480" cy="512064"/>
          </a:xfrm>
          <a:prstGeom prst="rect">
            <a:avLst/>
          </a:prstGeom>
          <a:solidFill>
            <a:srgbClr val="EBF5F6"/>
          </a:solidFill>
          <a:ln w="13970">
            <a:solidFill>
              <a:srgbClr val="D2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0104120" y="4498847"/>
            <a:ext cx="1463039" cy="38404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19" b="0">
                <a:solidFill>
                  <a:srgbClr val="263141"/>
                </a:solidFill>
                <a:latin typeface="Aptos"/>
              </a:rPr>
              <a:t>—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40080" y="5257800"/>
            <a:ext cx="5257800" cy="777240"/>
          </a:xfrm>
          <a:prstGeom prst="roundRect">
            <a:avLst>
              <a:gd name="adj" fmla="val 7000"/>
            </a:avLst>
          </a:prstGeom>
          <a:solidFill>
            <a:srgbClr val="EBF5F6"/>
          </a:solidFill>
          <a:ln w="13970">
            <a:solidFill>
              <a:srgbClr val="EB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86384" y="5349240"/>
            <a:ext cx="4965192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1">
                <a:solidFill>
                  <a:srgbClr val="1F8F8B"/>
                </a:solidFill>
                <a:latin typeface="Aptos"/>
              </a:rPr>
              <a:t>FAIR COMPARISON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6384" y="5705856"/>
            <a:ext cx="4965192" cy="246888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050" b="0">
                <a:solidFill>
                  <a:srgbClr val="263141"/>
                </a:solidFill>
                <a:latin typeface="Aptos"/>
              </a:rPr>
              <a:t>Use identical train/test split or cross-validation folds for all models.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217920" y="5257800"/>
            <a:ext cx="5257800" cy="777240"/>
          </a:xfrm>
          <a:prstGeom prst="roundRect">
            <a:avLst>
              <a:gd name="adj" fmla="val 7000"/>
            </a:avLst>
          </a:prstGeom>
          <a:solidFill>
            <a:srgbClr val="F0F5F9"/>
          </a:solidFill>
          <a:ln w="13970">
            <a:solidFill>
              <a:srgbClr val="F0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364224" y="5349240"/>
            <a:ext cx="4965192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1">
                <a:solidFill>
                  <a:srgbClr val="2F5E8F"/>
                </a:solidFill>
                <a:latin typeface="Aptos"/>
              </a:rPr>
              <a:t>INTERPRETATION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64224" y="5705856"/>
            <a:ext cx="4965192" cy="246888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050" b="0">
                <a:solidFill>
                  <a:srgbClr val="263141"/>
                </a:solidFill>
                <a:latin typeface="Aptos"/>
              </a:rPr>
              <a:t>Explain the gain, trade-offs and limitations; do not assume the hybrid wins.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0080" y="6144768"/>
            <a:ext cx="10881360" cy="20116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00" b="1">
                <a:solidFill>
                  <a:srgbClr val="CD7E37"/>
                </a:solidFill>
                <a:latin typeface="Aptos"/>
              </a:rPr>
              <a:t>*Choose task-appropriate metrics. For regression, replace classification metrics with MAE, RMSE and R².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13A"/>
          </a:solidFill>
          <a:ln w="13970">
            <a:solidFill>
              <a:srgbClr val="14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91440"/>
            <a:ext cx="103327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GitHub Repository – Update &amp; Version Evidence</a:t>
            </a:r>
          </a:p>
        </p:txBody>
      </p:sp>
      <p:sp>
        <p:nvSpPr>
          <p:cNvPr id="4" name="Oval 3"/>
          <p:cNvSpPr/>
          <p:nvPr/>
        </p:nvSpPr>
        <p:spPr>
          <a:xfrm>
            <a:off x="11201400" y="118872"/>
            <a:ext cx="530352" cy="530352"/>
          </a:xfrm>
          <a:prstGeom prst="ellipse">
            <a:avLst/>
          </a:prstGeom>
          <a:solidFill>
            <a:srgbClr val="1F8F8B"/>
          </a:solidFill>
          <a:ln>
            <a:solidFill>
              <a:srgbClr val="1F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128016"/>
            <a:ext cx="530352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537960"/>
            <a:ext cx="7315200" cy="1828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900" b="0">
                <a:solidFill>
                  <a:srgbClr val="707C8B"/>
                </a:solidFill>
                <a:latin typeface="Aptos"/>
              </a:rPr>
              <a:t>Project Review – III  |  Batch 13  |  RetailIQ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1115568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00" b="0">
                <a:solidFill>
                  <a:srgbClr val="707C8B"/>
                </a:solidFill>
                <a:latin typeface="Aptos"/>
              </a:rPr>
              <a:t>Add the live repository details and screenshots after pushing the latest project version.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36192"/>
            <a:ext cx="5257800" cy="1097280"/>
          </a:xfrm>
          <a:prstGeom prst="roundRect">
            <a:avLst>
              <a:gd name="adj" fmla="val 7000"/>
            </a:avLst>
          </a:prstGeom>
          <a:solidFill>
            <a:srgbClr val="EBF5F6"/>
          </a:solidFill>
          <a:ln w="13970">
            <a:solidFill>
              <a:srgbClr val="EB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1627632"/>
            <a:ext cx="4965192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1">
                <a:solidFill>
                  <a:srgbClr val="1F8F8B"/>
                </a:solidFill>
                <a:latin typeface="Aptos"/>
              </a:rPr>
              <a:t>REPOSITORY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1984248"/>
            <a:ext cx="4965192" cy="566928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050" b="0">
                <a:solidFill>
                  <a:srgbClr val="263141"/>
                </a:solidFill>
                <a:latin typeface="Aptos"/>
              </a:rPr>
              <a:t>Repository URL: [Paste GitHub link]
Branch: [main / development]
Latest commit: [Short hash + date]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36192"/>
            <a:ext cx="5349240" cy="1097280"/>
          </a:xfrm>
          <a:prstGeom prst="roundRect">
            <a:avLst>
              <a:gd name="adj" fmla="val 7000"/>
            </a:avLst>
          </a:prstGeom>
          <a:solidFill>
            <a:srgbClr val="F0F5F9"/>
          </a:solidFill>
          <a:ln w="13970">
            <a:solidFill>
              <a:srgbClr val="F0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64224" y="1627632"/>
            <a:ext cx="5056631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1">
                <a:solidFill>
                  <a:srgbClr val="2F5E8F"/>
                </a:solidFill>
                <a:latin typeface="Aptos"/>
              </a:rPr>
              <a:t>UPDATE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1984248"/>
            <a:ext cx="5056631" cy="566928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050" b="0">
                <a:solidFill>
                  <a:srgbClr val="263141"/>
                </a:solidFill>
                <a:latin typeface="Aptos"/>
              </a:rPr>
              <a:t>Recent modules added / updated: [List]
README and setup steps: [Status]
Dependencies / requirements: [Status]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971800"/>
            <a:ext cx="5257800" cy="1965960"/>
          </a:xfrm>
          <a:prstGeom prst="rect">
            <a:avLst/>
          </a:prstGeom>
          <a:solidFill>
            <a:srgbClr val="FBFDFE"/>
          </a:solidFill>
          <a:ln w="13970">
            <a:solidFill>
              <a:srgbClr val="1F8F8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" y="3063240"/>
            <a:ext cx="5038344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8F8B"/>
                </a:solidFill>
                <a:latin typeface="Aptos"/>
              </a:rPr>
              <a:t>SCREENSHOT 1 • REPOSITORY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" y="3410712"/>
            <a:ext cx="4965192" cy="12161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0">
                <a:solidFill>
                  <a:srgbClr val="707C8B"/>
                </a:solidFill>
                <a:latin typeface="Aptos"/>
              </a:rPr>
              <a:t>Show repository name, branch, folders and latest commit.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681728"/>
            <a:ext cx="5038344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CD7E37"/>
                </a:solidFill>
                <a:latin typeface="Aptos"/>
              </a:rPr>
              <a:t>INSERT VERIFIED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971800"/>
            <a:ext cx="5349240" cy="1965960"/>
          </a:xfrm>
          <a:prstGeom prst="rect">
            <a:avLst/>
          </a:prstGeom>
          <a:solidFill>
            <a:srgbClr val="FBFDFE"/>
          </a:solidFill>
          <a:ln w="13970">
            <a:solidFill>
              <a:srgbClr val="1F8F8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27648" y="3063240"/>
            <a:ext cx="5129783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8F8B"/>
                </a:solidFill>
                <a:latin typeface="Aptos"/>
              </a:rPr>
              <a:t>SCREENSHOT 2 • COMMITS / FILES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3410712"/>
            <a:ext cx="5056631" cy="12161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0">
                <a:solidFill>
                  <a:srgbClr val="707C8B"/>
                </a:solidFill>
                <a:latin typeface="Aptos"/>
              </a:rPr>
              <a:t>Show recent commit history and updated source files.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4681728"/>
            <a:ext cx="5129783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CD7E37"/>
                </a:solidFill>
                <a:latin typeface="Aptos"/>
              </a:rPr>
              <a:t>INSERT VERIFIED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57800"/>
            <a:ext cx="10698480" cy="5943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263141"/>
                </a:solidFill>
                <a:latin typeface="Aptos"/>
              </a:rPr>
              <a:t>Suggested repository structure
README.md  •  requirements.txt  •  app/  •  modules/  •  data/ (sample or permitted data only)  •  outputs/  •  docs/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989320"/>
            <a:ext cx="1069848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950" b="1">
                <a:solidFill>
                  <a:srgbClr val="CD7E37"/>
                </a:solidFill>
                <a:latin typeface="Aptos"/>
              </a:rPr>
              <a:t>Do not include passwords, API keys, private datasets or personal credentials in the repository.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13A"/>
          </a:solidFill>
          <a:ln w="13970">
            <a:solidFill>
              <a:srgbClr val="14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91440"/>
            <a:ext cx="103327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Research Paper Draft – Completion &amp; Readiness</a:t>
            </a:r>
          </a:p>
        </p:txBody>
      </p:sp>
      <p:sp>
        <p:nvSpPr>
          <p:cNvPr id="4" name="Oval 3"/>
          <p:cNvSpPr/>
          <p:nvPr/>
        </p:nvSpPr>
        <p:spPr>
          <a:xfrm>
            <a:off x="11201400" y="118872"/>
            <a:ext cx="530352" cy="530352"/>
          </a:xfrm>
          <a:prstGeom prst="ellipse">
            <a:avLst/>
          </a:prstGeom>
          <a:solidFill>
            <a:srgbClr val="1F8F8B"/>
          </a:solidFill>
          <a:ln>
            <a:solidFill>
              <a:srgbClr val="1F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128016"/>
            <a:ext cx="530352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537960"/>
            <a:ext cx="7315200" cy="1828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900" b="0">
                <a:solidFill>
                  <a:srgbClr val="707C8B"/>
                </a:solidFill>
                <a:latin typeface="Aptos"/>
              </a:rPr>
              <a:t>Project Review – III  |  Batch 13  |  RetailIQ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1115568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00" b="0">
                <a:solidFill>
                  <a:srgbClr val="707C8B"/>
                </a:solidFill>
                <a:latin typeface="Aptos"/>
              </a:rPr>
              <a:t>Use this slide to report the actual draft status and show the paper structure or document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72768"/>
            <a:ext cx="3520440" cy="987552"/>
          </a:xfrm>
          <a:prstGeom prst="roundRect">
            <a:avLst>
              <a:gd name="adj" fmla="val 7000"/>
            </a:avLst>
          </a:prstGeom>
          <a:solidFill>
            <a:srgbClr val="EBF5F6"/>
          </a:solidFill>
          <a:ln w="13970">
            <a:solidFill>
              <a:srgbClr val="EB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1664208"/>
            <a:ext cx="3227832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1">
                <a:solidFill>
                  <a:srgbClr val="1F8F8B"/>
                </a:solidFill>
                <a:latin typeface="Aptos"/>
              </a:rPr>
              <a:t>ABSTRACT &amp; KEYWORDS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020824"/>
            <a:ext cx="3227832" cy="457200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050" b="0">
                <a:solidFill>
                  <a:srgbClr val="263141"/>
                </a:solidFill>
                <a:latin typeface="Aptos"/>
              </a:rPr>
              <a:t>Problem, method, scope and contribution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72768"/>
            <a:ext cx="3520440" cy="987552"/>
          </a:xfrm>
          <a:prstGeom prst="roundRect">
            <a:avLst>
              <a:gd name="adj" fmla="val 7000"/>
            </a:avLst>
          </a:prstGeom>
          <a:solidFill>
            <a:srgbClr val="F0F5F9"/>
          </a:solidFill>
          <a:ln w="13970">
            <a:solidFill>
              <a:srgbClr val="F0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1664208"/>
            <a:ext cx="3227832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1">
                <a:solidFill>
                  <a:srgbClr val="2F5E8F"/>
                </a:solidFill>
                <a:latin typeface="Aptos"/>
              </a:rPr>
              <a:t>INTRODUCTION &amp; RELATED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2020824"/>
            <a:ext cx="3227832" cy="457200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050" b="0">
                <a:solidFill>
                  <a:srgbClr val="263141"/>
                </a:solidFill>
                <a:latin typeface="Aptos"/>
              </a:rPr>
              <a:t>Motivation, literature gap and cited studies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572768"/>
            <a:ext cx="3520440" cy="987552"/>
          </a:xfrm>
          <a:prstGeom prst="roundRect">
            <a:avLst>
              <a:gd name="adj" fmla="val 7000"/>
            </a:avLst>
          </a:prstGeom>
          <a:solidFill>
            <a:srgbClr val="EBF5F6"/>
          </a:solidFill>
          <a:ln w="13970">
            <a:solidFill>
              <a:srgbClr val="EB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21624" y="1664208"/>
            <a:ext cx="3227832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1">
                <a:solidFill>
                  <a:srgbClr val="1F8F8B"/>
                </a:solidFill>
                <a:latin typeface="Aptos"/>
              </a:rPr>
              <a:t>PROPOSED METHODOLOGY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2020824"/>
            <a:ext cx="3227832" cy="457200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050" b="0">
                <a:solidFill>
                  <a:srgbClr val="263141"/>
                </a:solidFill>
                <a:latin typeface="Aptos"/>
              </a:rPr>
              <a:t>Architecture, workflow and implementation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807208"/>
            <a:ext cx="3520440" cy="987552"/>
          </a:xfrm>
          <a:prstGeom prst="roundRect">
            <a:avLst>
              <a:gd name="adj" fmla="val 7000"/>
            </a:avLst>
          </a:prstGeom>
          <a:solidFill>
            <a:srgbClr val="EBF5F6"/>
          </a:solidFill>
          <a:ln w="13970">
            <a:solidFill>
              <a:srgbClr val="EB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0664" y="2898648"/>
            <a:ext cx="3227832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1">
                <a:solidFill>
                  <a:srgbClr val="1F8F8B"/>
                </a:solidFill>
                <a:latin typeface="Aptos"/>
              </a:rPr>
              <a:t>EXPERIMENTAL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" y="3255264"/>
            <a:ext cx="3227832" cy="457200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050" b="0">
                <a:solidFill>
                  <a:srgbClr val="263141"/>
                </a:solidFill>
                <a:latin typeface="Aptos"/>
              </a:rPr>
              <a:t>Datasets, splits, baselines and metrics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2807208"/>
            <a:ext cx="3520440" cy="987552"/>
          </a:xfrm>
          <a:prstGeom prst="roundRect">
            <a:avLst>
              <a:gd name="adj" fmla="val 7000"/>
            </a:avLst>
          </a:prstGeom>
          <a:solidFill>
            <a:srgbClr val="F0F5F9"/>
          </a:solidFill>
          <a:ln w="13970">
            <a:solidFill>
              <a:srgbClr val="F0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81144" y="2898648"/>
            <a:ext cx="3227832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1">
                <a:solidFill>
                  <a:srgbClr val="2F5E8F"/>
                </a:solidFill>
                <a:latin typeface="Aptos"/>
              </a:rPr>
              <a:t>RESULTS &amp; DISCUSSION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144" y="3255264"/>
            <a:ext cx="3227832" cy="457200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050" b="0">
                <a:solidFill>
                  <a:srgbClr val="263141"/>
                </a:solidFill>
                <a:latin typeface="Aptos"/>
              </a:rPr>
              <a:t>Measured comparison, interpretation and limitations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2807208"/>
            <a:ext cx="3520440" cy="987552"/>
          </a:xfrm>
          <a:prstGeom prst="roundRect">
            <a:avLst>
              <a:gd name="adj" fmla="val 7000"/>
            </a:avLst>
          </a:prstGeom>
          <a:solidFill>
            <a:srgbClr val="EBF5F6"/>
          </a:solidFill>
          <a:ln w="13970">
            <a:solidFill>
              <a:srgbClr val="EB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21624" y="2898648"/>
            <a:ext cx="3227832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1">
                <a:solidFill>
                  <a:srgbClr val="1F8F8B"/>
                </a:solidFill>
                <a:latin typeface="Aptos"/>
              </a:rPr>
              <a:t>CONCLUSION &amp; REFERENCES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4" y="3255264"/>
            <a:ext cx="3227832" cy="457200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050" b="0">
                <a:solidFill>
                  <a:srgbClr val="263141"/>
                </a:solidFill>
                <a:latin typeface="Aptos"/>
              </a:rPr>
              <a:t>Contributions, future work and complete citations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4251960"/>
            <a:ext cx="5257800" cy="1508760"/>
          </a:xfrm>
          <a:prstGeom prst="rect">
            <a:avLst/>
          </a:prstGeom>
          <a:solidFill>
            <a:srgbClr val="FBFDFE"/>
          </a:solidFill>
          <a:ln w="13970">
            <a:solidFill>
              <a:srgbClr val="1F8F8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4088" y="4343400"/>
            <a:ext cx="5038344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8F8B"/>
                </a:solidFill>
                <a:latin typeface="Aptos"/>
              </a:rPr>
              <a:t>SCREENSHOT 1 • PAPER DRAFT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" y="4690872"/>
            <a:ext cx="4965192" cy="7589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0">
                <a:solidFill>
                  <a:srgbClr val="707C8B"/>
                </a:solidFill>
                <a:latin typeface="Aptos"/>
              </a:rPr>
              <a:t>Insert screenshot of the manuscript with section headings and current draft.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5504688"/>
            <a:ext cx="5038344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CD7E37"/>
                </a:solidFill>
                <a:latin typeface="Aptos"/>
              </a:rPr>
              <a:t>INSERT VERIFIED EVIDENCE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251960"/>
            <a:ext cx="5349240" cy="1508760"/>
          </a:xfrm>
          <a:prstGeom prst="rect">
            <a:avLst/>
          </a:prstGeom>
          <a:solidFill>
            <a:srgbClr val="FBFDFE"/>
          </a:solidFill>
          <a:ln w="13970">
            <a:solidFill>
              <a:srgbClr val="1F8F8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27648" y="4343400"/>
            <a:ext cx="5129783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8F8B"/>
                </a:solidFill>
                <a:latin typeface="Aptos"/>
              </a:rPr>
              <a:t>SCREENSHOT 2 • REFERENCES / 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4224" y="4690872"/>
            <a:ext cx="5056631" cy="7589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0">
                <a:solidFill>
                  <a:srgbClr val="707C8B"/>
                </a:solidFill>
                <a:latin typeface="Aptos"/>
              </a:rPr>
              <a:t>Insert screenshot of references, result tables or experiment section.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5504688"/>
            <a:ext cx="5129783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CD7E37"/>
                </a:solidFill>
                <a:latin typeface="Aptos"/>
              </a:rPr>
              <a:t>INSERT VERIFIED 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961888"/>
            <a:ext cx="10698480" cy="29260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050" b="1">
                <a:solidFill>
                  <a:srgbClr val="CD7E37"/>
                </a:solidFill>
                <a:latin typeface="Aptos"/>
              </a:rPr>
              <a:t>Draft status: [In progress / Complete for internal review / Ready for supervisor feedback]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2224</Words>
  <Application>Microsoft Office PowerPoint</Application>
  <PresentationFormat>Widescreen</PresentationFormat>
  <Paragraphs>337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yakkalaamith@outlook.com</cp:lastModifiedBy>
  <cp:revision>2</cp:revision>
  <dcterms:created xsi:type="dcterms:W3CDTF">2013-01-27T09:14:16Z</dcterms:created>
  <dcterms:modified xsi:type="dcterms:W3CDTF">2026-10-30T18:42:56Z</dcterms:modified>
  <cp:category/>
</cp:coreProperties>
</file>