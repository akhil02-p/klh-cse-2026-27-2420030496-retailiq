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275B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57800"/>
            <a:ext cx="3108960" cy="16002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F8B89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914400"/>
            <a:ext cx="2377440" cy="2377440"/>
          </a:xfrm>
          <a:prstGeom prst="ellipse">
            <a:avLst/>
          </a:prstGeom>
          <a:solidFill>
            <a:srgbClr val="1F8B89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RETAILIQ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2011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Adaptive Data Analytics Framework for Automated Dataset Profiling, Exploratory Analysis and Insight Recommendation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2971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 •   BATCH 13   •   16-09-2026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429000"/>
            <a:ext cx="4114800" cy="0"/>
          </a:xfrm>
          <a:prstGeom prst="line">
            <a:avLst/>
          </a:prstGeom>
          <a:noFill/>
          <a:ln w="12700">
            <a:solidFill>
              <a:srgbClr val="3C4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Engineering (AI &amp; ML)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3886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 Maneesh Kumar Reddy – 2420030246   |   Y. Guna Veera Sri Amith – 2420030234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Kumar Satya Sai – 2420030202   |   P. Akhil Kumar Reddy – 2420030496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Guide: </a:t>
            </a:r>
            <a:pPr indent="0" marL="0">
              <a:buNone/>
            </a:pPr>
            <a:r>
              <a:rPr lang="en-US" sz="12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Swapnika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Corresponding Author (Research Paper): V. Maneesh Kumar Reddy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5" name="Text 3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06698" cy="1691640"/>
          </a:xfrm>
          <a:prstGeom prst="roundRect">
            <a:avLst>
              <a:gd name="adj" fmla="val 3784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325880"/>
            <a:ext cx="3277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Ingestion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1810512"/>
            <a:ext cx="32775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CSV, XLSX and XLS tabular files as raw input to the pipeline.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2498" y="1188720"/>
            <a:ext cx="3606698" cy="1691640"/>
          </a:xfrm>
          <a:prstGeom prst="roundRect">
            <a:avLst>
              <a:gd name="adj" fmla="val 3784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57090" y="1325880"/>
            <a:ext cx="3277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Dataset Profiling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57090" y="1810512"/>
            <a:ext cx="32775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Characterizes rows, columns, data types, missing values, duplicates, uniqueness &amp; analytical roles.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27797" y="1188720"/>
            <a:ext cx="3606698" cy="1691640"/>
          </a:xfrm>
          <a:prstGeom prst="roundRect">
            <a:avLst>
              <a:gd name="adj" fmla="val 3784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2389" y="1325880"/>
            <a:ext cx="3277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Quality Assessment &amp; Cleaning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92389" y="1810512"/>
            <a:ext cx="32775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cleaning — standardizes columns, removes empty cols/duplicate rows, trims whitespace, parses dates; all actions logged.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606698" cy="1691640"/>
          </a:xfrm>
          <a:prstGeom prst="roundRect">
            <a:avLst>
              <a:gd name="adj" fmla="val 378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200400"/>
            <a:ext cx="3277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Adaptive Analytical Routing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1792" y="3685032"/>
            <a:ext cx="32775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target detection &amp; task inference route data to classification, regression or unsupervised analysis.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2498" y="3063240"/>
            <a:ext cx="3606698" cy="1691640"/>
          </a:xfrm>
          <a:prstGeom prst="roundRect">
            <a:avLst>
              <a:gd name="adj" fmla="val 378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57090" y="3200400"/>
            <a:ext cx="3277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Visualization &amp; KPI Layer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457090" y="3685032"/>
            <a:ext cx="32775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KPI generation and visual analytics for numeric, categorical &amp; date-like fields.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27797" y="3063240"/>
            <a:ext cx="3606698" cy="1691640"/>
          </a:xfrm>
          <a:prstGeom prst="roundRect">
            <a:avLst>
              <a:gd name="adj" fmla="val 3784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92389" y="3200400"/>
            <a:ext cx="327751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Recommendation, Export &amp; ML Evaluation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92389" y="3685032"/>
            <a:ext cx="327751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next analytical steps; optional ML benchmarking layer with reproducible baselines.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846320"/>
            <a:ext cx="11277295" cy="1280160"/>
          </a:xfrm>
          <a:prstGeom prst="roundRect">
            <a:avLst>
              <a:gd name="adj" fmla="val 5000"/>
            </a:avLst>
          </a:prstGeom>
          <a:solidFill>
            <a:srgbClr val="121F3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956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Function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5230368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R(D) = Classification, if a high-confidence categorical/binary target is found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R(D) = Regression, if a high-confidence continuous target is found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R(D) = Unsupervised, otherwise — avoiding automatic selection when evidence is weak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5" name="Text 3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— Six-Layer Pipeline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6858000" cy="658368"/>
          </a:xfrm>
          <a:prstGeom prst="roundRect">
            <a:avLst>
              <a:gd name="adj" fmla="val 97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" y="161848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F8B89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" y="16184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6362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Layer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3000" y="1837944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XLSX / XLS input handling via Pandas, OpenPyXL &amp; XLRD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76472" y="216712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6858000" cy="658368"/>
          </a:xfrm>
          <a:prstGeom prst="roundRect">
            <a:avLst>
              <a:gd name="adj" fmla="val 972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6072" y="2368296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75B8F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" y="2368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3134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&amp; Schema Layer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3000" y="2587752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Row/column/type, missingness, duplicate &amp; uniqueness detection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91693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6858000" cy="658368"/>
          </a:xfrm>
          <a:prstGeom prst="roundRect">
            <a:avLst>
              <a:gd name="adj" fmla="val 97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" y="311810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F8B89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" y="3118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06324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&amp; Cleaning Layer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Conservative, fully-logged cleaning operations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76472" y="3666744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58184"/>
            <a:ext cx="6858000" cy="658368"/>
          </a:xfrm>
          <a:prstGeom prst="roundRect">
            <a:avLst>
              <a:gd name="adj" fmla="val 972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6072" y="386791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75B8F"/>
          </a:solidFill>
          <a:ln/>
        </p:spPr>
      </p:sp>
      <p:sp>
        <p:nvSpPr>
          <p:cNvPr id="27" name="Text 25"/>
          <p:cNvSpPr/>
          <p:nvPr/>
        </p:nvSpPr>
        <p:spPr>
          <a:xfrm>
            <a:off x="576072" y="38679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813048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Routing &amp; Analytics Layer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3000" y="4087368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inference (classification / regression / unsupervised) + adaptive KPI engine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76472" y="4416552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507992"/>
            <a:ext cx="6858000" cy="658368"/>
          </a:xfrm>
          <a:prstGeom prst="roundRect">
            <a:avLst>
              <a:gd name="adj" fmla="val 97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76072" y="4617720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F8B89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" y="46177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4562856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&amp; Interaction Layer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3000" y="4837176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application with interactive Plotly charts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76472" y="5166360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5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5257800"/>
            <a:ext cx="6858000" cy="658368"/>
          </a:xfrm>
          <a:prstGeom prst="roundRect">
            <a:avLst>
              <a:gd name="adj" fmla="val 9722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6072" y="5367528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75B8F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" y="5367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3000" y="5312664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/ Export / ML Layer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3000" y="5586984"/>
            <a:ext cx="5989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Next-step suggestions, export, scikit-learn baselines &amp; SciPy statistical testing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589520" y="1508760"/>
            <a:ext cx="4144975" cy="2468880"/>
          </a:xfrm>
          <a:prstGeom prst="roundRect">
            <a:avLst>
              <a:gd name="adj" fmla="val 2593"/>
            </a:avLst>
          </a:prstGeom>
          <a:solidFill>
            <a:srgbClr val="121F3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790688" y="1664208"/>
            <a:ext cx="3742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Modules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790688" y="2011680"/>
            <a:ext cx="37426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Module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 Module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Cleaning Module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Routing Engine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 Module</a:t>
            </a:r>
            <a:endParaRPr lang="en-US" sz="1000" dirty="0"/>
          </a:p>
          <a:p>
            <a:pPr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Evaluation &amp; Stats Module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89520" y="4114800"/>
            <a:ext cx="4144975" cy="1737360"/>
          </a:xfrm>
          <a:prstGeom prst="roundRect">
            <a:avLst>
              <a:gd name="adj" fmla="val 3684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790688" y="4251960"/>
            <a:ext cx="374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790688" y="4526280"/>
            <a:ext cx="37426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orchestration layer that routes and inspects rather than embedding a single opaque model — every transformation and routing decision stays transparent and overridable.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Tools &amp; Technologies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5" name="Text 3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01488" cy="2148840"/>
          </a:xfrm>
          <a:prstGeom prst="roundRect">
            <a:avLst>
              <a:gd name="adj" fmla="val 2979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F8B8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45389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Data Processing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234440"/>
            <a:ext cx="5501488" cy="2148840"/>
          </a:xfrm>
          <a:prstGeom prst="roundRect">
            <a:avLst>
              <a:gd name="adj" fmla="val 2979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15888" y="14173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75B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15888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64528" y="145389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Application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07328" y="210312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 (interactive charts)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501488" cy="2148840"/>
          </a:xfrm>
          <a:prstGeom prst="roundRect">
            <a:avLst>
              <a:gd name="adj" fmla="val 297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F8B8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87705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(Spreadsheets)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OpenPyXL (.xlsx)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XLRD (.xls)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33008" y="3657600"/>
            <a:ext cx="5501488" cy="2148840"/>
          </a:xfrm>
          <a:prstGeom prst="roundRect">
            <a:avLst>
              <a:gd name="adj" fmla="val 2979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15888" y="38404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75B8F"/>
          </a:solidFill>
          <a:ln/>
        </p:spPr>
      </p:sp>
      <p:sp>
        <p:nvSpPr>
          <p:cNvPr id="23" name="Text 21"/>
          <p:cNvSpPr/>
          <p:nvPr/>
        </p:nvSpPr>
        <p:spPr>
          <a:xfrm>
            <a:off x="6415888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64528" y="3877056"/>
            <a:ext cx="458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&amp; Statistical Evaluation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07328" y="4526280"/>
            <a:ext cx="495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(models &amp; pipelines)</a:t>
            </a:r>
            <a:endParaRPr lang="en-US" sz="1200" dirty="0"/>
          </a:p>
          <a:p>
            <a:pPr marL="342900" indent="-342900">
              <a:lnSpc>
                <a:spcPts val="22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 (Friedman / Wilcoxon tests)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performed on ordinary hardware — no specialized GPU resources required.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5" name="Text 3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Module-wise Implementation Status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11277295" cy="347472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17320"/>
            <a:ext cx="323688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50117" y="1417320"/>
            <a:ext cx="57178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14310" y="1417320"/>
            <a:ext cx="1883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11277295" cy="53035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64792"/>
            <a:ext cx="32368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 &amp; Profiling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50117" y="1764792"/>
            <a:ext cx="57178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/ XLSX / XLS ingestion; schema &amp; missingness profiling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14310" y="1764792"/>
            <a:ext cx="18836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295144"/>
            <a:ext cx="1127729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295144"/>
            <a:ext cx="32368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Cleaning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50117" y="2295144"/>
            <a:ext cx="57178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standardization, empty-col &amp; duplicate-row removal, whitespace trim, date parsing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14310" y="2295144"/>
            <a:ext cx="18836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25496"/>
            <a:ext cx="11277295" cy="53035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825496"/>
            <a:ext cx="32368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Pipeline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50117" y="2825496"/>
            <a:ext cx="57178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/ mode imputation, one-hot encoding, scaling — fitted per training fold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14310" y="2825496"/>
            <a:ext cx="18836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355848"/>
            <a:ext cx="1127729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355848"/>
            <a:ext cx="32368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Routing Engine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950117" y="3355848"/>
            <a:ext cx="57178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/ Regression / Unsupervised inference — 100% routing accuracy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814310" y="3355848"/>
            <a:ext cx="18836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11277295" cy="53035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86200"/>
            <a:ext cx="32368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Evaluation Layer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950117" y="3886200"/>
            <a:ext cx="57178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Logistic/Linear Regression, Decision Tree, Random Forest, K-Means (K=2–6)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14310" y="3886200"/>
            <a:ext cx="18836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416552"/>
            <a:ext cx="11277295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416552"/>
            <a:ext cx="32368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950117" y="4416552"/>
            <a:ext cx="57178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Friedman omnibus test + Holm-corrected Wilcoxon comparisons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814310" y="4416552"/>
            <a:ext cx="18836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946904"/>
            <a:ext cx="11277295" cy="53035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946904"/>
            <a:ext cx="323688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Suite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950117" y="4946904"/>
            <a:ext cx="57178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datasets — 8 public benchmark + 2 synthetic retail (seed 42)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14310" y="4946904"/>
            <a:ext cx="188360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41742" y="1892808"/>
            <a:ext cx="1709873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40" name="Text 38"/>
          <p:cNvSpPr/>
          <p:nvPr/>
        </p:nvSpPr>
        <p:spPr>
          <a:xfrm>
            <a:off x="9841742" y="1892808"/>
            <a:ext cx="1709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841742" y="2423160"/>
            <a:ext cx="1709873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42" name="Text 40"/>
          <p:cNvSpPr/>
          <p:nvPr/>
        </p:nvSpPr>
        <p:spPr>
          <a:xfrm>
            <a:off x="9841742" y="2423160"/>
            <a:ext cx="1709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841742" y="2953512"/>
            <a:ext cx="1709873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44" name="Text 42"/>
          <p:cNvSpPr/>
          <p:nvPr/>
        </p:nvSpPr>
        <p:spPr>
          <a:xfrm>
            <a:off x="9841742" y="2953512"/>
            <a:ext cx="1709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9841742" y="3483864"/>
            <a:ext cx="1709873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46" name="Text 44"/>
          <p:cNvSpPr/>
          <p:nvPr/>
        </p:nvSpPr>
        <p:spPr>
          <a:xfrm>
            <a:off x="9841742" y="3483864"/>
            <a:ext cx="1709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841742" y="4014216"/>
            <a:ext cx="1709873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48" name="Text 46"/>
          <p:cNvSpPr/>
          <p:nvPr/>
        </p:nvSpPr>
        <p:spPr>
          <a:xfrm>
            <a:off x="9841742" y="4014216"/>
            <a:ext cx="1709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841742" y="4544568"/>
            <a:ext cx="1709873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50" name="Text 48"/>
          <p:cNvSpPr/>
          <p:nvPr/>
        </p:nvSpPr>
        <p:spPr>
          <a:xfrm>
            <a:off x="9841742" y="4544568"/>
            <a:ext cx="1709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841742" y="5074920"/>
            <a:ext cx="1709873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52" name="Text 50"/>
          <p:cNvSpPr/>
          <p:nvPr/>
        </p:nvSpPr>
        <p:spPr>
          <a:xfrm>
            <a:off x="9841742" y="5074920"/>
            <a:ext cx="170987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57200" y="6080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modules above are implemented and validated on the ten-dataset research suite described in the accompanying paper.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5" name="Text 3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576218" cy="914400"/>
          </a:xfrm>
          <a:prstGeom prst="roundRect">
            <a:avLst>
              <a:gd name="adj" fmla="val 7000"/>
            </a:avLst>
          </a:prstGeom>
          <a:solidFill>
            <a:srgbClr val="121F3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70432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627632"/>
            <a:ext cx="3393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Accuracy (10/10 datasets)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07738" y="1097280"/>
            <a:ext cx="3576218" cy="914400"/>
          </a:xfrm>
          <a:prstGeom prst="roundRect">
            <a:avLst>
              <a:gd name="adj" fmla="val 7000"/>
            </a:avLst>
          </a:prstGeom>
          <a:solidFill>
            <a:srgbClr val="121F3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07738" y="1170432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99178" y="1627632"/>
            <a:ext cx="3393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Benchmarked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58277" y="1097280"/>
            <a:ext cx="3576218" cy="914400"/>
          </a:xfrm>
          <a:prstGeom prst="roundRect">
            <a:avLst>
              <a:gd name="adj" fmla="val 7000"/>
            </a:avLst>
          </a:prstGeom>
          <a:solidFill>
            <a:srgbClr val="121F3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58277" y="1170432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× 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49717" y="1627632"/>
            <a:ext cx="33933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Cross-Validation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Result per Dataset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11277295" cy="347472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514600"/>
            <a:ext cx="16580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71295" y="2514600"/>
            <a:ext cx="2785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392" y="2514600"/>
            <a:ext cx="23347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Configuration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84397" y="2514600"/>
            <a:ext cx="1883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814310" y="2514600"/>
            <a:ext cx="188360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62072"/>
            <a:ext cx="11277295" cy="31546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862072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71295" y="2862072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datasets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03392" y="2862072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Router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84397" y="2862072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814310" y="2862072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(10/10)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177540"/>
            <a:ext cx="11277295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177540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71295" y="3177540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392" y="3177540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84397" y="3177540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14310" y="3177540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0.9778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493008"/>
            <a:ext cx="11277295" cy="31546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493008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71295" y="3493008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392" y="3493008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84397" y="3493008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814310" y="3493008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0.9843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3808476"/>
            <a:ext cx="11277295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3808476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371295" y="3808476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03392" y="3808476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84397" y="3808476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814310" y="3808476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0.9532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123944"/>
            <a:ext cx="11277295" cy="31546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123944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371295" y="4123944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03392" y="4123944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784397" y="4123944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814310" y="4123944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0.9759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439412"/>
            <a:ext cx="11277295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6928" y="4439412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371295" y="4439412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Churn (Synthetic)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303392" y="4439412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84397" y="4439412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814310" y="4439412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0.6793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754880"/>
            <a:ext cx="11277295" cy="31546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4754880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371295" y="4754880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03392" y="4754880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784397" y="4754880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↓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814310" y="4754880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54.93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57200" y="5070348"/>
            <a:ext cx="11277295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" y="5070348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371295" y="5070348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Sales (Synthetic)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303392" y="5070348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784397" y="5070348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↓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9814310" y="5070348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4656.44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5385816"/>
            <a:ext cx="11277295" cy="31546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" y="5385816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2371295" y="5385816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303392" y="5385816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7784397" y="5385816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9814310" y="5385816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0.5818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57200" y="5701284"/>
            <a:ext cx="11277295" cy="3154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66928" y="5701284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2371295" y="5701284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303392" y="5701284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3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7784397" y="5701284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814310" y="5701284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0.2849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7200" y="6016752"/>
            <a:ext cx="11277295" cy="31546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6928" y="6016752"/>
            <a:ext cx="165806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2371295" y="6016752"/>
            <a:ext cx="2785793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5303392" y="6016752"/>
            <a:ext cx="2334701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784397" y="6016752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9814310" y="6016752"/>
            <a:ext cx="1883609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0.1056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Evaluation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Design, Metrics &amp; Hyperparameters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6" name="Text 4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77840" cy="2743200"/>
          </a:xfrm>
          <a:prstGeom prst="roundRect">
            <a:avLst>
              <a:gd name="adj" fmla="val 2333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727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repeats × 5-fold CV → 25 fold-level observations per dataset/model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shuffled folds for classification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Shuffled K-folds for regression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datasets evaluated across K = 2–6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fitted inside each training fold — no leakage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417320"/>
            <a:ext cx="5470855" cy="2743200"/>
          </a:xfrm>
          <a:prstGeom prst="roundRect">
            <a:avLst>
              <a:gd name="adj" fmla="val 2333"/>
            </a:avLst>
          </a:prstGeom>
          <a:solidFill>
            <a:srgbClr val="121F3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572768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Configuration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1920240"/>
            <a:ext cx="510509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/ Linear Regression — library defaults, deterministic seed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 — max depth = 8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— 100 trees, random state = 42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— K = 2–6, random state = 42</a:t>
            </a:r>
            <a:endParaRPr lang="en-US" sz="1050" dirty="0"/>
          </a:p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extensive hyperparameter search — objective is framework benchmarking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Metrics Tracked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77295" cy="347472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663440"/>
            <a:ext cx="23347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7933" y="4663440"/>
            <a:ext cx="616898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Tracked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363218" y="4663440"/>
            <a:ext cx="23347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Metric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010912"/>
            <a:ext cx="11277295" cy="38404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5010912"/>
            <a:ext cx="23347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47933" y="5010912"/>
            <a:ext cx="61689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weighted Precision / Recall / 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363218" y="5010912"/>
            <a:ext cx="23347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F1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394960"/>
            <a:ext cx="1127729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394960"/>
            <a:ext cx="23347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047933" y="5394960"/>
            <a:ext cx="61689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MAE, RMSE, R²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63218" y="5394960"/>
            <a:ext cx="23347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779008"/>
            <a:ext cx="11277295" cy="384048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5779008"/>
            <a:ext cx="23347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47933" y="5779008"/>
            <a:ext cx="61689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Silhouette, Davies–Bouldin, Calinski–Harabasz, Inertia, Runtime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363218" y="5779008"/>
            <a:ext cx="23347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Evaluation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10362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Significance Testing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6" name="Text 4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1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Friedman Test Results (Holm-corrected Wilcoxon follow-up)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11277295" cy="347472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08760"/>
            <a:ext cx="38007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13981" y="1508760"/>
            <a:ext cx="233470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Friedman Statistic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94986" y="1508760"/>
            <a:ext cx="24474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88764" y="1508760"/>
            <a:ext cx="21091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856232"/>
            <a:ext cx="11277295" cy="43891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856232"/>
            <a:ext cx="380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 Cancer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13981" y="1856232"/>
            <a:ext cx="2334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39.5714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994986" y="1856232"/>
            <a:ext cx="2447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2.554e-09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88764" y="1856232"/>
            <a:ext cx="21091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295144"/>
            <a:ext cx="11277295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295144"/>
            <a:ext cx="380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13981" y="2295144"/>
            <a:ext cx="2334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43.1818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94986" y="2295144"/>
            <a:ext cx="2447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4.199e-10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88764" y="2295144"/>
            <a:ext cx="21091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734056"/>
            <a:ext cx="11277295" cy="43891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734056"/>
            <a:ext cx="380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Iris Classification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13981" y="2734056"/>
            <a:ext cx="2334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6.2979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994986" y="2734056"/>
            <a:ext cx="2447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4.290e-02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588764" y="2734056"/>
            <a:ext cx="21091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172968"/>
            <a:ext cx="11277295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172968"/>
            <a:ext cx="380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Digits Classification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13981" y="3172968"/>
            <a:ext cx="2334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40.8800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94986" y="3172968"/>
            <a:ext cx="2447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1.327e-09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588764" y="3172968"/>
            <a:ext cx="21091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11277295" cy="43891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3611880"/>
            <a:ext cx="380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Diabetes Regression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13981" y="3611880"/>
            <a:ext cx="2334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44.7200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94986" y="3611880"/>
            <a:ext cx="2447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1.946e-10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88764" y="3611880"/>
            <a:ext cx="21091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050792"/>
            <a:ext cx="11277295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4050792"/>
            <a:ext cx="380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Retail Churn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13981" y="4050792"/>
            <a:ext cx="2334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40.5600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94986" y="4050792"/>
            <a:ext cx="2447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1.558e-09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88764" y="4050792"/>
            <a:ext cx="21091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4489704"/>
            <a:ext cx="11277295" cy="438912"/>
          </a:xfrm>
          <a:prstGeom prst="rect">
            <a:avLst/>
          </a:prstGeom>
          <a:solidFill>
            <a:srgbClr val="F4F7FA"/>
          </a:solidFill>
          <a:ln w="9525">
            <a:solidFill>
              <a:srgbClr val="DDE6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4489704"/>
            <a:ext cx="380074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Retail Sales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13981" y="4489704"/>
            <a:ext cx="233470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48.0800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994986" y="4489704"/>
            <a:ext cx="244747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3.627e-11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88764" y="4489704"/>
            <a:ext cx="21091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57200" y="5074920"/>
            <a:ext cx="11277295" cy="1280160"/>
          </a:xfrm>
          <a:prstGeom prst="roundRect">
            <a:avLst>
              <a:gd name="adj" fmla="val 5000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0080" y="5193792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40080" y="5468112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seven supervised datasets show statistically significant differences between baseline models. This confirms that model performance is dataset-dependent and supports RetailIQ's design of retaining multiple baseline paths rather than a single fixed model.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1F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 Draft Preparation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1185855" y="228600"/>
            <a:ext cx="502920" cy="502920"/>
          </a:xfrm>
          <a:prstGeom prst="ellipse">
            <a:avLst/>
          </a:prstGeom>
          <a:solidFill>
            <a:srgbClr val="1F8B89"/>
          </a:solidFill>
          <a:ln/>
        </p:spPr>
      </p:sp>
      <p:sp>
        <p:nvSpPr>
          <p:cNvPr id="5" name="Text 3"/>
          <p:cNvSpPr/>
          <p:nvPr/>
        </p:nvSpPr>
        <p:spPr>
          <a:xfrm>
            <a:off x="11185855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7295" cy="822960"/>
          </a:xfrm>
          <a:prstGeom prst="roundRect">
            <a:avLst>
              <a:gd name="adj" fmla="val 7778"/>
            </a:avLst>
          </a:prstGeom>
          <a:solidFill>
            <a:srgbClr val="121F3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23444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RetailIQ: An Adaptive Data Analytics Framework for Automated Dataset Profiling,</a:t>
            </a:r>
            <a:endParaRPr lang="en-US" sz="12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 and Insight Recommendation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10820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Author: V. Maneesh Kumar Reddy  |  Dept. of CSE (AI &amp; ML), KLH University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2585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&amp; Keywords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Problem, method, benchmark scope &amp; headline results summarized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594360" y="32369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2369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22244" y="21488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59404" y="22585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59404" y="26791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Background, problem statement, research gap, objectives, RQs, contributions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3459404" y="32369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3459404" y="32369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87288" y="21488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24448" y="22585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4448" y="26791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references across data quality, visualization &amp; automated EDA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6324448" y="32369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23" name="Text 21"/>
          <p:cNvSpPr/>
          <p:nvPr/>
        </p:nvSpPr>
        <p:spPr>
          <a:xfrm>
            <a:off x="6324448" y="32369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52331" y="21488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E6F3F4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89491" y="22585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Methodology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189491" y="26791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Six-stage architecture, preprocessing &amp; routing formulation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9189491" y="32369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28" name="Text 26"/>
          <p:cNvSpPr/>
          <p:nvPr/>
        </p:nvSpPr>
        <p:spPr>
          <a:xfrm>
            <a:off x="9189491" y="32369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8587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42793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10-dataset suite, 5×5 CV, hyperparameters, evaluation metrics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594360" y="48371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8371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22244" y="37490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59404" y="38587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59404" y="42793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classification, regression, clustering &amp; statistical tests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3459404" y="48371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38" name="Text 36"/>
          <p:cNvSpPr/>
          <p:nvPr/>
        </p:nvSpPr>
        <p:spPr>
          <a:xfrm>
            <a:off x="3459404" y="48371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87288" y="37490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24448" y="38587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Limitations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24448" y="42793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Interpretation, comparison with prior work, scope boundaries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6324448" y="48371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43" name="Text 41"/>
          <p:cNvSpPr/>
          <p:nvPr/>
        </p:nvSpPr>
        <p:spPr>
          <a:xfrm>
            <a:off x="6324448" y="48371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052331" y="3749040"/>
            <a:ext cx="2682164" cy="1417320"/>
          </a:xfrm>
          <a:prstGeom prst="roundRect">
            <a:avLst>
              <a:gd name="adj" fmla="val 4516"/>
            </a:avLst>
          </a:prstGeom>
          <a:solidFill>
            <a:srgbClr val="F4F7FA"/>
          </a:solidFill>
          <a:ln/>
          <a:effectLst>
            <a:outerShdw sx="100000" sy="100000" kx="0" ky="0" algn="bl" rotWithShape="0" blurRad="76200" dist="25400" dir="5400000">
              <a:srgbClr val="8C9AAB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189491" y="3858768"/>
            <a:ext cx="2407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6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9189491" y="4279392"/>
            <a:ext cx="24078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3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contribution and next development stage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9189491" y="4837176"/>
            <a:ext cx="2407844" cy="274320"/>
          </a:xfrm>
          <a:prstGeom prst="roundRect">
            <a:avLst>
              <a:gd name="adj" fmla="val 20000"/>
            </a:avLst>
          </a:prstGeom>
          <a:solidFill>
            <a:srgbClr val="2E8B57"/>
          </a:solidFill>
          <a:ln/>
        </p:spPr>
      </p:sp>
      <p:sp>
        <p:nvSpPr>
          <p:cNvPr id="48" name="Text 46"/>
          <p:cNvSpPr/>
          <p:nvPr/>
        </p:nvSpPr>
        <p:spPr>
          <a:xfrm>
            <a:off x="9189491" y="4837176"/>
            <a:ext cx="24078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8B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includes 32 references and full Declarations section (funding, conflict of interest, ethics, data availability, contributions) — ready for formatting and submission to the target venue.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7382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– II  |  Batch 13  |  RetailIQ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F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7800"/>
            <a:ext cx="12191695" cy="1600200"/>
          </a:xfrm>
          <a:prstGeom prst="rect">
            <a:avLst/>
          </a:prstGeom>
          <a:solidFill>
            <a:srgbClr val="275B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257800"/>
            <a:ext cx="3108960" cy="1600200"/>
          </a:xfrm>
          <a:prstGeom prst="rect">
            <a:avLst/>
          </a:prstGeom>
          <a:solidFill>
            <a:srgbClr val="F2A65A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F8B89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945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063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2E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13  •  Department of Computer Science and Engineering (AI &amp; ML)  •  Faculty Guide: K. Swapnika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2026-09-16T03:15:55Z</dcterms:created>
  <dcterms:modified xsi:type="dcterms:W3CDTF">2026-09-16T03:15:55Z</dcterms:modified>
</cp:coreProperties>
</file>